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85" r:id="rId4"/>
    <p:sldId id="258" r:id="rId5"/>
    <p:sldId id="259" r:id="rId6"/>
    <p:sldId id="261" r:id="rId7"/>
    <p:sldId id="262" r:id="rId8"/>
    <p:sldId id="263" r:id="rId9"/>
    <p:sldId id="286" r:id="rId10"/>
    <p:sldId id="265" r:id="rId11"/>
    <p:sldId id="266" r:id="rId12"/>
    <p:sldId id="267" r:id="rId13"/>
    <p:sldId id="268" r:id="rId14"/>
    <p:sldId id="313" r:id="rId15"/>
    <p:sldId id="269" r:id="rId16"/>
    <p:sldId id="291" r:id="rId17"/>
    <p:sldId id="270" r:id="rId18"/>
    <p:sldId id="271" r:id="rId19"/>
    <p:sldId id="314" r:id="rId20"/>
    <p:sldId id="315" r:id="rId21"/>
    <p:sldId id="316" r:id="rId22"/>
    <p:sldId id="288" r:id="rId23"/>
    <p:sldId id="272" r:id="rId24"/>
    <p:sldId id="273" r:id="rId25"/>
    <p:sldId id="320" r:id="rId26"/>
    <p:sldId id="321" r:id="rId27"/>
    <p:sldId id="276" r:id="rId28"/>
    <p:sldId id="289" r:id="rId29"/>
    <p:sldId id="278" r:id="rId30"/>
    <p:sldId id="323" r:id="rId31"/>
    <p:sldId id="279" r:id="rId32"/>
    <p:sldId id="281" r:id="rId33"/>
    <p:sldId id="290" r:id="rId34"/>
    <p:sldId id="319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921F25-3169-2F37-F260-4EF3064A4B00}" v="35" dt="2025-01-15T22:43:16.126"/>
    <p1510:client id="{3F6E64A8-B82D-A9F6-0FEC-DDFEDBEB4B0D}" v="1529" dt="2025-01-15T22:16:47.799"/>
    <p1510:client id="{6BD424C2-239C-71D6-8FA9-BC4F9137865D}" v="58" dt="2025-01-15T22:59:05.422"/>
    <p1510:client id="{825E09F8-C42D-31F4-8803-D2B7679202AB}" v="60" dt="2025-01-15T23:17:57.5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#1">
  <dgm:title val=""/>
  <dgm:desc val=""/>
  <dgm:catLst>
    <dgm:cat type="mainScheme" pri="10300"/>
  </dgm:catLst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#2">
  <dgm:title val=""/>
  <dgm:desc val=""/>
  <dgm:catLst>
    <dgm:cat type="mainScheme" pri="10300"/>
  </dgm:catLst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#3">
  <dgm:title val=""/>
  <dgm:desc val=""/>
  <dgm:catLst>
    <dgm:cat type="mainScheme" pri="10300"/>
  </dgm:catLst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#4">
  <dgm:title val=""/>
  <dgm:desc val=""/>
  <dgm:catLst>
    <dgm:cat type="mainScheme" pri="10300"/>
  </dgm:catLst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887A16-609F-41CD-8BE5-16BC207B83CD}" type="doc">
      <dgm:prSet loTypeId="urn:microsoft.com/office/officeart/2005/8/layout/default#1" loCatId="list" qsTypeId="urn:microsoft.com/office/officeart/2005/8/quickstyle/simple1#1" qsCatId="simple" csTypeId="urn:microsoft.com/office/officeart/2005/8/colors/accent0_3#1" csCatId="mainScheme"/>
      <dgm:spPr/>
      <dgm:t>
        <a:bodyPr/>
        <a:lstStyle/>
        <a:p>
          <a:endParaRPr lang="en-US"/>
        </a:p>
      </dgm:t>
    </dgm:pt>
    <dgm:pt modelId="{93CDC0EF-C149-4B18-8794-DC1EDF4EFBC2}">
      <dgm:prSet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ym typeface="+mn-ea"/>
            </a:rPr>
            <a:t>Arooj </a:t>
          </a:r>
          <a:endParaRPr lang="en-US"/>
        </a:p>
      </dgm:t>
    </dgm:pt>
    <dgm:pt modelId="{D106B4BD-F908-4719-A040-71899BCD4907}" type="parTrans" cxnId="{957C4F8F-A013-4C7D-85AF-73C445196482}">
      <dgm:prSet/>
      <dgm:spPr/>
      <dgm:t>
        <a:bodyPr/>
        <a:lstStyle/>
        <a:p>
          <a:endParaRPr lang="en-US"/>
        </a:p>
      </dgm:t>
    </dgm:pt>
    <dgm:pt modelId="{37F301C6-CCF1-4D7F-99B2-F0B96AAE9C27}" type="sibTrans" cxnId="{957C4F8F-A013-4C7D-85AF-73C445196482}">
      <dgm:prSet/>
      <dgm:spPr/>
      <dgm:t>
        <a:bodyPr/>
        <a:lstStyle/>
        <a:p>
          <a:endParaRPr lang="en-US"/>
        </a:p>
      </dgm:t>
    </dgm:pt>
    <dgm:pt modelId="{B2251277-1E6E-4187-8866-12B2C8185727}">
      <dgm:prSet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0" i="0"/>
            <a:t>Moeez </a:t>
          </a:r>
          <a:endParaRPr lang="en-US"/>
        </a:p>
      </dgm:t>
    </dgm:pt>
    <dgm:pt modelId="{F3B14A23-0672-4854-AA19-3C364A66E945}" type="parTrans" cxnId="{28419CE3-E217-4DD0-9051-AA4FC8F25B1C}">
      <dgm:prSet/>
      <dgm:spPr/>
      <dgm:t>
        <a:bodyPr/>
        <a:lstStyle/>
        <a:p>
          <a:endParaRPr lang="en-US"/>
        </a:p>
      </dgm:t>
    </dgm:pt>
    <dgm:pt modelId="{C5EBEA3C-25B6-49BF-A683-D0129E577307}" type="sibTrans" cxnId="{28419CE3-E217-4DD0-9051-AA4FC8F25B1C}">
      <dgm:prSet/>
      <dgm:spPr/>
      <dgm:t>
        <a:bodyPr/>
        <a:lstStyle/>
        <a:p>
          <a:endParaRPr lang="en-US"/>
        </a:p>
      </dgm:t>
    </dgm:pt>
    <dgm:pt modelId="{475D51D8-5E17-4F8B-B092-D05B4BE7C0E6}">
      <dgm:prSet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0" i="0"/>
            <a:t>Noman</a:t>
          </a:r>
          <a:endParaRPr lang="en-US"/>
        </a:p>
      </dgm:t>
    </dgm:pt>
    <dgm:pt modelId="{9E458BF6-EDA5-4DC8-B73A-A67F57660D74}" type="parTrans" cxnId="{E5AC3AE9-DEAB-4426-B1AD-EEB2B74DEB6F}">
      <dgm:prSet/>
      <dgm:spPr/>
      <dgm:t>
        <a:bodyPr/>
        <a:lstStyle/>
        <a:p>
          <a:endParaRPr lang="en-US"/>
        </a:p>
      </dgm:t>
    </dgm:pt>
    <dgm:pt modelId="{604BE404-8910-4AF0-AE01-0ED9EDA6A13E}" type="sibTrans" cxnId="{E5AC3AE9-DEAB-4426-B1AD-EEB2B74DEB6F}">
      <dgm:prSet/>
      <dgm:spPr/>
      <dgm:t>
        <a:bodyPr/>
        <a:lstStyle/>
        <a:p>
          <a:endParaRPr lang="en-US"/>
        </a:p>
      </dgm:t>
    </dgm:pt>
    <dgm:pt modelId="{EE583ED0-08CA-4ADF-A80D-FCDA01138C00}">
      <dgm:prSet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Sharjeel</a:t>
          </a:r>
        </a:p>
      </dgm:t>
    </dgm:pt>
    <dgm:pt modelId="{1F42BA62-954D-4E68-B4F2-435E182CD4F0}" type="parTrans" cxnId="{815CC37B-ED21-4244-B278-47B2B420E217}">
      <dgm:prSet/>
      <dgm:spPr/>
      <dgm:t>
        <a:bodyPr/>
        <a:lstStyle/>
        <a:p>
          <a:endParaRPr lang="en-US"/>
        </a:p>
      </dgm:t>
    </dgm:pt>
    <dgm:pt modelId="{0C146150-3566-4583-A76E-DD0C01718311}" type="sibTrans" cxnId="{815CC37B-ED21-4244-B278-47B2B420E217}">
      <dgm:prSet/>
      <dgm:spPr/>
      <dgm:t>
        <a:bodyPr/>
        <a:lstStyle/>
        <a:p>
          <a:endParaRPr lang="en-US"/>
        </a:p>
      </dgm:t>
    </dgm:pt>
    <dgm:pt modelId="{0DB49C61-1AA4-4D72-88C3-2EC80AACC07B}">
      <dgm:prSet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Z</a:t>
          </a:r>
          <a:r>
            <a:rPr lang="en-US">
              <a:sym typeface="+mn-ea"/>
            </a:rPr>
            <a:t>ain </a:t>
          </a:r>
          <a:endParaRPr lang="en-US"/>
        </a:p>
      </dgm:t>
    </dgm:pt>
    <dgm:pt modelId="{F6CBF76C-0AC5-497F-8295-0D6F3ADE54B7}" type="parTrans" cxnId="{D9AA5A1E-615D-433F-8CB7-57C93D2E89F1}">
      <dgm:prSet/>
      <dgm:spPr/>
      <dgm:t>
        <a:bodyPr/>
        <a:lstStyle/>
        <a:p>
          <a:endParaRPr lang="en-US"/>
        </a:p>
      </dgm:t>
    </dgm:pt>
    <dgm:pt modelId="{C7A4CD59-8A3A-4120-B00B-46DC7A3786C7}" type="sibTrans" cxnId="{D9AA5A1E-615D-433F-8CB7-57C93D2E89F1}">
      <dgm:prSet/>
      <dgm:spPr/>
      <dgm:t>
        <a:bodyPr/>
        <a:lstStyle/>
        <a:p>
          <a:endParaRPr lang="en-US"/>
        </a:p>
      </dgm:t>
    </dgm:pt>
    <dgm:pt modelId="{65960C43-EE78-4325-A0DE-D06E9EFAB7A3}" type="pres">
      <dgm:prSet presAssocID="{41887A16-609F-41CD-8BE5-16BC207B83CD}" presName="diagram" presStyleCnt="0">
        <dgm:presLayoutVars>
          <dgm:dir/>
          <dgm:resizeHandles val="exact"/>
        </dgm:presLayoutVars>
      </dgm:prSet>
      <dgm:spPr/>
    </dgm:pt>
    <dgm:pt modelId="{0AD6359A-A446-4A99-B50F-2EC60D356539}" type="pres">
      <dgm:prSet presAssocID="{93CDC0EF-C149-4B18-8794-DC1EDF4EFBC2}" presName="node" presStyleLbl="node1" presStyleIdx="0" presStyleCnt="5" custLinFactNeighborY="1692">
        <dgm:presLayoutVars>
          <dgm:bulletEnabled val="1"/>
        </dgm:presLayoutVars>
      </dgm:prSet>
      <dgm:spPr/>
    </dgm:pt>
    <dgm:pt modelId="{002AF92E-CB36-4820-A6B6-CD314AE2CD1D}" type="pres">
      <dgm:prSet presAssocID="{37F301C6-CCF1-4D7F-99B2-F0B96AAE9C27}" presName="sibTrans" presStyleCnt="0"/>
      <dgm:spPr/>
    </dgm:pt>
    <dgm:pt modelId="{2D61F404-5C83-49BB-B8BF-4993ECFAABCC}" type="pres">
      <dgm:prSet presAssocID="{B2251277-1E6E-4187-8866-12B2C8185727}" presName="node" presStyleLbl="node1" presStyleIdx="1" presStyleCnt="5">
        <dgm:presLayoutVars>
          <dgm:bulletEnabled val="1"/>
        </dgm:presLayoutVars>
      </dgm:prSet>
      <dgm:spPr/>
    </dgm:pt>
    <dgm:pt modelId="{4ED4402F-6331-4927-B6D8-41D3C4AD8783}" type="pres">
      <dgm:prSet presAssocID="{C5EBEA3C-25B6-49BF-A683-D0129E577307}" presName="sibTrans" presStyleCnt="0"/>
      <dgm:spPr/>
    </dgm:pt>
    <dgm:pt modelId="{3A2F232B-C65D-4126-AF7A-E597E33BFAB9}" type="pres">
      <dgm:prSet presAssocID="{475D51D8-5E17-4F8B-B092-D05B4BE7C0E6}" presName="node" presStyleLbl="node1" presStyleIdx="2" presStyleCnt="5">
        <dgm:presLayoutVars>
          <dgm:bulletEnabled val="1"/>
        </dgm:presLayoutVars>
      </dgm:prSet>
      <dgm:spPr/>
    </dgm:pt>
    <dgm:pt modelId="{A3FCF631-073A-43AB-9683-82FEF702F17D}" type="pres">
      <dgm:prSet presAssocID="{604BE404-8910-4AF0-AE01-0ED9EDA6A13E}" presName="sibTrans" presStyleCnt="0"/>
      <dgm:spPr/>
    </dgm:pt>
    <dgm:pt modelId="{8285344F-218E-4182-8F1A-1C7A0DEDF923}" type="pres">
      <dgm:prSet presAssocID="{EE583ED0-08CA-4ADF-A80D-FCDA01138C00}" presName="node" presStyleLbl="node1" presStyleIdx="3" presStyleCnt="5">
        <dgm:presLayoutVars>
          <dgm:bulletEnabled val="1"/>
        </dgm:presLayoutVars>
      </dgm:prSet>
      <dgm:spPr/>
    </dgm:pt>
    <dgm:pt modelId="{825C85DC-72B7-4229-8283-4433146205D7}" type="pres">
      <dgm:prSet presAssocID="{0C146150-3566-4583-A76E-DD0C01718311}" presName="sibTrans" presStyleCnt="0"/>
      <dgm:spPr/>
    </dgm:pt>
    <dgm:pt modelId="{69E0558B-4CF2-4A7C-8271-C4416BE6D469}" type="pres">
      <dgm:prSet presAssocID="{0DB49C61-1AA4-4D72-88C3-2EC80AACC07B}" presName="node" presStyleLbl="node1" presStyleIdx="4" presStyleCnt="5">
        <dgm:presLayoutVars>
          <dgm:bulletEnabled val="1"/>
        </dgm:presLayoutVars>
      </dgm:prSet>
      <dgm:spPr/>
    </dgm:pt>
  </dgm:ptLst>
  <dgm:cxnLst>
    <dgm:cxn modelId="{D9AA5A1E-615D-433F-8CB7-57C93D2E89F1}" srcId="{41887A16-609F-41CD-8BE5-16BC207B83CD}" destId="{0DB49C61-1AA4-4D72-88C3-2EC80AACC07B}" srcOrd="4" destOrd="0" parTransId="{F6CBF76C-0AC5-497F-8295-0D6F3ADE54B7}" sibTransId="{C7A4CD59-8A3A-4120-B00B-46DC7A3786C7}"/>
    <dgm:cxn modelId="{8B72F931-6D3E-4F37-B198-ADF5791DE5EA}" type="presOf" srcId="{475D51D8-5E17-4F8B-B092-D05B4BE7C0E6}" destId="{3A2F232B-C65D-4126-AF7A-E597E33BFAB9}" srcOrd="0" destOrd="0" presId="urn:microsoft.com/office/officeart/2005/8/layout/default#1"/>
    <dgm:cxn modelId="{22283544-0537-412F-B359-FA7520026050}" type="presOf" srcId="{EE583ED0-08CA-4ADF-A80D-FCDA01138C00}" destId="{8285344F-218E-4182-8F1A-1C7A0DEDF923}" srcOrd="0" destOrd="0" presId="urn:microsoft.com/office/officeart/2005/8/layout/default#1"/>
    <dgm:cxn modelId="{1A76F068-E018-4632-85E6-831A46D6C335}" type="presOf" srcId="{41887A16-609F-41CD-8BE5-16BC207B83CD}" destId="{65960C43-EE78-4325-A0DE-D06E9EFAB7A3}" srcOrd="0" destOrd="0" presId="urn:microsoft.com/office/officeart/2005/8/layout/default#1"/>
    <dgm:cxn modelId="{815CC37B-ED21-4244-B278-47B2B420E217}" srcId="{41887A16-609F-41CD-8BE5-16BC207B83CD}" destId="{EE583ED0-08CA-4ADF-A80D-FCDA01138C00}" srcOrd="3" destOrd="0" parTransId="{1F42BA62-954D-4E68-B4F2-435E182CD4F0}" sibTransId="{0C146150-3566-4583-A76E-DD0C01718311}"/>
    <dgm:cxn modelId="{05AFAB8B-D0F1-4823-A072-4E234469DD1C}" type="presOf" srcId="{0DB49C61-1AA4-4D72-88C3-2EC80AACC07B}" destId="{69E0558B-4CF2-4A7C-8271-C4416BE6D469}" srcOrd="0" destOrd="0" presId="urn:microsoft.com/office/officeart/2005/8/layout/default#1"/>
    <dgm:cxn modelId="{957C4F8F-A013-4C7D-85AF-73C445196482}" srcId="{41887A16-609F-41CD-8BE5-16BC207B83CD}" destId="{93CDC0EF-C149-4B18-8794-DC1EDF4EFBC2}" srcOrd="0" destOrd="0" parTransId="{D106B4BD-F908-4719-A040-71899BCD4907}" sibTransId="{37F301C6-CCF1-4D7F-99B2-F0B96AAE9C27}"/>
    <dgm:cxn modelId="{EBD3CEC7-1125-4DE4-B827-9BA4D1CA6AF4}" type="presOf" srcId="{B2251277-1E6E-4187-8866-12B2C8185727}" destId="{2D61F404-5C83-49BB-B8BF-4993ECFAABCC}" srcOrd="0" destOrd="0" presId="urn:microsoft.com/office/officeart/2005/8/layout/default#1"/>
    <dgm:cxn modelId="{F5E4AADC-2A30-457D-B25C-B99836FF8CB8}" type="presOf" srcId="{93CDC0EF-C149-4B18-8794-DC1EDF4EFBC2}" destId="{0AD6359A-A446-4A99-B50F-2EC60D356539}" srcOrd="0" destOrd="0" presId="urn:microsoft.com/office/officeart/2005/8/layout/default#1"/>
    <dgm:cxn modelId="{28419CE3-E217-4DD0-9051-AA4FC8F25B1C}" srcId="{41887A16-609F-41CD-8BE5-16BC207B83CD}" destId="{B2251277-1E6E-4187-8866-12B2C8185727}" srcOrd="1" destOrd="0" parTransId="{F3B14A23-0672-4854-AA19-3C364A66E945}" sibTransId="{C5EBEA3C-25B6-49BF-A683-D0129E577307}"/>
    <dgm:cxn modelId="{E5AC3AE9-DEAB-4426-B1AD-EEB2B74DEB6F}" srcId="{41887A16-609F-41CD-8BE5-16BC207B83CD}" destId="{475D51D8-5E17-4F8B-B092-D05B4BE7C0E6}" srcOrd="2" destOrd="0" parTransId="{9E458BF6-EDA5-4DC8-B73A-A67F57660D74}" sibTransId="{604BE404-8910-4AF0-AE01-0ED9EDA6A13E}"/>
    <dgm:cxn modelId="{0E70ADD5-1EAD-44CD-9B5E-A14AEF7996FA}" type="presParOf" srcId="{65960C43-EE78-4325-A0DE-D06E9EFAB7A3}" destId="{0AD6359A-A446-4A99-B50F-2EC60D356539}" srcOrd="0" destOrd="0" presId="urn:microsoft.com/office/officeart/2005/8/layout/default#1"/>
    <dgm:cxn modelId="{1A3945F0-FFC8-42BF-9D07-E655C29B93F1}" type="presParOf" srcId="{65960C43-EE78-4325-A0DE-D06E9EFAB7A3}" destId="{002AF92E-CB36-4820-A6B6-CD314AE2CD1D}" srcOrd="1" destOrd="0" presId="urn:microsoft.com/office/officeart/2005/8/layout/default#1"/>
    <dgm:cxn modelId="{BBAE150D-0DE4-42FF-AF0E-27E3EAA01237}" type="presParOf" srcId="{65960C43-EE78-4325-A0DE-D06E9EFAB7A3}" destId="{2D61F404-5C83-49BB-B8BF-4993ECFAABCC}" srcOrd="2" destOrd="0" presId="urn:microsoft.com/office/officeart/2005/8/layout/default#1"/>
    <dgm:cxn modelId="{AA5E753D-5E5D-4459-96C0-5FC4A8489A31}" type="presParOf" srcId="{65960C43-EE78-4325-A0DE-D06E9EFAB7A3}" destId="{4ED4402F-6331-4927-B6D8-41D3C4AD8783}" srcOrd="3" destOrd="0" presId="urn:microsoft.com/office/officeart/2005/8/layout/default#1"/>
    <dgm:cxn modelId="{38550EE6-F879-4D8E-B840-52FDBEB5E32A}" type="presParOf" srcId="{65960C43-EE78-4325-A0DE-D06E9EFAB7A3}" destId="{3A2F232B-C65D-4126-AF7A-E597E33BFAB9}" srcOrd="4" destOrd="0" presId="urn:microsoft.com/office/officeart/2005/8/layout/default#1"/>
    <dgm:cxn modelId="{815F9F3D-1105-4535-995D-F6AC7ACFFC95}" type="presParOf" srcId="{65960C43-EE78-4325-A0DE-D06E9EFAB7A3}" destId="{A3FCF631-073A-43AB-9683-82FEF702F17D}" srcOrd="5" destOrd="0" presId="urn:microsoft.com/office/officeart/2005/8/layout/default#1"/>
    <dgm:cxn modelId="{F6AC1982-F303-4ACC-95E6-50D856737A3C}" type="presParOf" srcId="{65960C43-EE78-4325-A0DE-D06E9EFAB7A3}" destId="{8285344F-218E-4182-8F1A-1C7A0DEDF923}" srcOrd="6" destOrd="0" presId="urn:microsoft.com/office/officeart/2005/8/layout/default#1"/>
    <dgm:cxn modelId="{20EB5FCA-CFCB-4ACD-BD9C-4F4CC6B21FC7}" type="presParOf" srcId="{65960C43-EE78-4325-A0DE-D06E9EFAB7A3}" destId="{825C85DC-72B7-4229-8283-4433146205D7}" srcOrd="7" destOrd="0" presId="urn:microsoft.com/office/officeart/2005/8/layout/default#1"/>
    <dgm:cxn modelId="{6164E0AE-B160-4A4E-9F2C-B104DD921775}" type="presParOf" srcId="{65960C43-EE78-4325-A0DE-D06E9EFAB7A3}" destId="{69E0558B-4CF2-4A7C-8271-C4416BE6D469}" srcOrd="8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F6EF45-595C-4EBE-ABAA-F89CFF747962}" type="doc">
      <dgm:prSet loTypeId="urn:microsoft.com/office/officeart/2016/7/layout/LinearBlockProcessNumbered" loCatId="process" qsTypeId="urn:microsoft.com/office/officeart/2005/8/quickstyle/simple1#2" qsCatId="simple" csTypeId="urn:microsoft.com/office/officeart/2005/8/colors/accent0_3#2" csCatId="mainScheme"/>
      <dgm:spPr/>
      <dgm:t>
        <a:bodyPr/>
        <a:lstStyle/>
        <a:p>
          <a:endParaRPr lang="en-US"/>
        </a:p>
      </dgm:t>
    </dgm:pt>
    <dgm:pt modelId="{E2C9FA24-1287-446B-B812-068323DDD9E8}">
      <dgm:prSet/>
      <dgm:spPr/>
      <dgm:t>
        <a:bodyPr/>
        <a:lstStyle/>
        <a:p>
          <a:pPr rtl="0"/>
          <a:r>
            <a:rPr lang="en-US" dirty="0">
              <a:latin typeface="Century Gothic"/>
            </a:rPr>
            <a:t>Mujeeb's points </a:t>
          </a:r>
          <a:r>
            <a:rPr lang="en-US" dirty="0"/>
            <a:t>showed the frustration and lack of trust of </a:t>
          </a:r>
          <a:r>
            <a:rPr lang="en-US" dirty="0">
              <a:latin typeface="Century Gothic"/>
            </a:rPr>
            <a:t>Bengali</a:t>
          </a:r>
          <a:r>
            <a:rPr lang="en-US" dirty="0"/>
            <a:t> people over </a:t>
          </a:r>
          <a:r>
            <a:rPr lang="en-US" dirty="0">
              <a:latin typeface="Century Gothic"/>
            </a:rPr>
            <a:t>West</a:t>
          </a:r>
          <a:r>
            <a:rPr lang="en-US" dirty="0"/>
            <a:t> </a:t>
          </a:r>
          <a:r>
            <a:rPr lang="en-US" dirty="0">
              <a:latin typeface="Century Gothic"/>
            </a:rPr>
            <a:t>Pakistan</a:t>
          </a:r>
          <a:r>
            <a:rPr lang="en-US" dirty="0"/>
            <a:t>.</a:t>
          </a:r>
        </a:p>
      </dgm:t>
    </dgm:pt>
    <dgm:pt modelId="{65756EAD-5640-4DD0-91CE-286526486EE3}" type="parTrans" cxnId="{0C74AC3F-8256-41D1-A2F3-CF04672E5C15}">
      <dgm:prSet/>
      <dgm:spPr/>
      <dgm:t>
        <a:bodyPr/>
        <a:lstStyle/>
        <a:p>
          <a:endParaRPr lang="en-US"/>
        </a:p>
      </dgm:t>
    </dgm:pt>
    <dgm:pt modelId="{61AC6A2A-4095-4DD1-917A-3559166E00AB}" type="sibTrans" cxnId="{0C74AC3F-8256-41D1-A2F3-CF04672E5C15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96CFCCB1-E1C0-4EFE-AB8F-E555E0C222A8}">
      <dgm:prSet/>
      <dgm:spPr/>
      <dgm:t>
        <a:bodyPr/>
        <a:lstStyle/>
        <a:p>
          <a:pPr rtl="0"/>
          <a:r>
            <a:rPr lang="en-US" dirty="0">
              <a:latin typeface="Century Gothic"/>
            </a:rPr>
            <a:t>Imposition</a:t>
          </a:r>
          <a:r>
            <a:rPr lang="en-US" dirty="0"/>
            <a:t> of </a:t>
          </a:r>
          <a:r>
            <a:rPr lang="en-US" dirty="0">
              <a:latin typeface="Century Gothic"/>
            </a:rPr>
            <a:t>Urdu</a:t>
          </a:r>
          <a:r>
            <a:rPr lang="en-US" dirty="0"/>
            <a:t>,</a:t>
          </a:r>
          <a:r>
            <a:rPr lang="en-US" dirty="0">
              <a:latin typeface="Century Gothic"/>
            </a:rPr>
            <a:t> exploitation of</a:t>
          </a:r>
          <a:r>
            <a:rPr lang="en-US" dirty="0"/>
            <a:t> resources by </a:t>
          </a:r>
          <a:r>
            <a:rPr lang="en-US" dirty="0">
              <a:latin typeface="Century Gothic"/>
            </a:rPr>
            <a:t>West</a:t>
          </a:r>
          <a:r>
            <a:rPr lang="en-US" dirty="0"/>
            <a:t> </a:t>
          </a:r>
          <a:r>
            <a:rPr lang="en-US" dirty="0">
              <a:latin typeface="Century Gothic"/>
            </a:rPr>
            <a:t>Pakistan and lack</a:t>
          </a:r>
          <a:r>
            <a:rPr lang="en-US" dirty="0"/>
            <a:t> of provincial </a:t>
          </a:r>
          <a:r>
            <a:rPr lang="en-US" dirty="0">
              <a:latin typeface="Century Gothic"/>
            </a:rPr>
            <a:t>autonomy led</a:t>
          </a:r>
          <a:r>
            <a:rPr lang="en-US" dirty="0"/>
            <a:t> </a:t>
          </a:r>
          <a:r>
            <a:rPr lang="en-US" dirty="0">
              <a:latin typeface="Century Gothic"/>
            </a:rPr>
            <a:t>East</a:t>
          </a:r>
          <a:r>
            <a:rPr lang="en-US" dirty="0"/>
            <a:t> </a:t>
          </a:r>
          <a:r>
            <a:rPr lang="en-US" dirty="0">
              <a:latin typeface="Century Gothic"/>
            </a:rPr>
            <a:t>Pakistan</a:t>
          </a:r>
          <a:r>
            <a:rPr lang="en-US" dirty="0"/>
            <a:t> to </a:t>
          </a:r>
          <a:r>
            <a:rPr lang="en-US" dirty="0">
              <a:latin typeface="Century Gothic"/>
            </a:rPr>
            <a:t>separation</a:t>
          </a:r>
          <a:r>
            <a:rPr lang="en-US" dirty="0"/>
            <a:t>.</a:t>
          </a:r>
        </a:p>
      </dgm:t>
    </dgm:pt>
    <dgm:pt modelId="{B51C9114-216F-4705-87F3-E245AF8E0378}" type="parTrans" cxnId="{39D06F1F-109B-44BF-9793-C44AA62A31E1}">
      <dgm:prSet/>
      <dgm:spPr/>
      <dgm:t>
        <a:bodyPr/>
        <a:lstStyle/>
        <a:p>
          <a:endParaRPr lang="en-US"/>
        </a:p>
      </dgm:t>
    </dgm:pt>
    <dgm:pt modelId="{4A8A7B45-9426-43CA-96A3-D4B19A9FD47D}" type="sibTrans" cxnId="{39D06F1F-109B-44BF-9793-C44AA62A31E1}">
      <dgm:prSet phldrT="02"/>
      <dgm:spPr/>
      <dgm:t>
        <a:bodyPr/>
        <a:lstStyle/>
        <a:p>
          <a:r>
            <a:rPr lang="en-US"/>
            <a:t>02</a:t>
          </a:r>
        </a:p>
      </dgm:t>
    </dgm:pt>
    <dgm:pt modelId="{B82C2FD9-AB71-4087-906E-AA32B5D517C9}">
      <dgm:prSet/>
      <dgm:spPr/>
      <dgm:t>
        <a:bodyPr/>
        <a:lstStyle/>
        <a:p>
          <a:pPr rtl="0"/>
          <a:r>
            <a:rPr lang="en-US" dirty="0"/>
            <a:t>If promises of </a:t>
          </a:r>
          <a:r>
            <a:rPr lang="en-US" dirty="0">
              <a:latin typeface="Century Gothic"/>
            </a:rPr>
            <a:t>Lahore</a:t>
          </a:r>
          <a:r>
            <a:rPr lang="en-US" dirty="0"/>
            <a:t> resolution were </a:t>
          </a:r>
          <a:r>
            <a:rPr lang="en-US" dirty="0">
              <a:latin typeface="Century Gothic"/>
            </a:rPr>
            <a:t>to be </a:t>
          </a:r>
          <a:r>
            <a:rPr lang="en-US" dirty="0"/>
            <a:t>realized </a:t>
          </a:r>
          <a:r>
            <a:rPr lang="en-US" dirty="0">
              <a:latin typeface="Century Gothic"/>
            </a:rPr>
            <a:t>practicality, it</a:t>
          </a:r>
          <a:r>
            <a:rPr lang="en-US" dirty="0"/>
            <a:t> could have saved </a:t>
          </a:r>
          <a:r>
            <a:rPr lang="en-US" dirty="0">
              <a:latin typeface="Century Gothic"/>
            </a:rPr>
            <a:t>Bangladesh</a:t>
          </a:r>
          <a:r>
            <a:rPr lang="en-US" dirty="0"/>
            <a:t> liberation war.</a:t>
          </a:r>
        </a:p>
      </dgm:t>
    </dgm:pt>
    <dgm:pt modelId="{DDF1ECAB-0AB7-49ED-8433-822A6518FF3B}" type="parTrans" cxnId="{995F1A2A-8FEA-47DC-BF9F-E0651A2F7A15}">
      <dgm:prSet/>
      <dgm:spPr/>
      <dgm:t>
        <a:bodyPr/>
        <a:lstStyle/>
        <a:p>
          <a:endParaRPr lang="en-US"/>
        </a:p>
      </dgm:t>
    </dgm:pt>
    <dgm:pt modelId="{394016CF-29A4-42ED-AFA7-B951020C8FF1}" type="sibTrans" cxnId="{995F1A2A-8FEA-47DC-BF9F-E0651A2F7A15}">
      <dgm:prSet phldrT="03"/>
      <dgm:spPr/>
      <dgm:t>
        <a:bodyPr/>
        <a:lstStyle/>
        <a:p>
          <a:r>
            <a:rPr lang="en-US"/>
            <a:t>03</a:t>
          </a:r>
        </a:p>
      </dgm:t>
    </dgm:pt>
    <dgm:pt modelId="{8C8840E1-0C80-4836-8FBD-2641533963CC}" type="pres">
      <dgm:prSet presAssocID="{0FF6EF45-595C-4EBE-ABAA-F89CFF747962}" presName="Name0" presStyleCnt="0">
        <dgm:presLayoutVars>
          <dgm:animLvl val="lvl"/>
          <dgm:resizeHandles val="exact"/>
        </dgm:presLayoutVars>
      </dgm:prSet>
      <dgm:spPr/>
    </dgm:pt>
    <dgm:pt modelId="{8BCDC274-4B3D-4DC1-83EB-E1690512816B}" type="pres">
      <dgm:prSet presAssocID="{E2C9FA24-1287-446B-B812-068323DDD9E8}" presName="compositeNode" presStyleCnt="0">
        <dgm:presLayoutVars>
          <dgm:bulletEnabled val="1"/>
        </dgm:presLayoutVars>
      </dgm:prSet>
      <dgm:spPr/>
    </dgm:pt>
    <dgm:pt modelId="{CB46833F-BB85-4FD0-A857-A4E9AEB786C2}" type="pres">
      <dgm:prSet presAssocID="{E2C9FA24-1287-446B-B812-068323DDD9E8}" presName="bgRect" presStyleLbl="alignNode1" presStyleIdx="0" presStyleCnt="3"/>
      <dgm:spPr/>
    </dgm:pt>
    <dgm:pt modelId="{F6DEBFD7-57C7-45EA-8686-99B1B0A622F7}" type="pres">
      <dgm:prSet presAssocID="{61AC6A2A-4095-4DD1-917A-3559166E00AB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CD04BB9B-2251-44BA-9505-487617DE65B3}" type="pres">
      <dgm:prSet presAssocID="{E2C9FA24-1287-446B-B812-068323DDD9E8}" presName="nodeRect" presStyleLbl="alignNode1" presStyleIdx="0" presStyleCnt="3">
        <dgm:presLayoutVars>
          <dgm:bulletEnabled val="1"/>
        </dgm:presLayoutVars>
      </dgm:prSet>
      <dgm:spPr/>
    </dgm:pt>
    <dgm:pt modelId="{F87D0FC9-4430-46FC-8148-32A5DF96E526}" type="pres">
      <dgm:prSet presAssocID="{61AC6A2A-4095-4DD1-917A-3559166E00AB}" presName="sibTrans" presStyleCnt="0"/>
      <dgm:spPr/>
    </dgm:pt>
    <dgm:pt modelId="{AE92C244-9554-43FD-9AFE-F0F7B42EB7D8}" type="pres">
      <dgm:prSet presAssocID="{96CFCCB1-E1C0-4EFE-AB8F-E555E0C222A8}" presName="compositeNode" presStyleCnt="0">
        <dgm:presLayoutVars>
          <dgm:bulletEnabled val="1"/>
        </dgm:presLayoutVars>
      </dgm:prSet>
      <dgm:spPr/>
    </dgm:pt>
    <dgm:pt modelId="{B12F9623-1152-4064-9C5A-02A51726856D}" type="pres">
      <dgm:prSet presAssocID="{96CFCCB1-E1C0-4EFE-AB8F-E555E0C222A8}" presName="bgRect" presStyleLbl="alignNode1" presStyleIdx="1" presStyleCnt="3"/>
      <dgm:spPr/>
    </dgm:pt>
    <dgm:pt modelId="{020C09CF-277E-4EF0-B763-6FFCF354B4D9}" type="pres">
      <dgm:prSet presAssocID="{4A8A7B45-9426-43CA-96A3-D4B19A9FD47D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4191B5B1-11FF-46BE-82F0-FE917F4F08F7}" type="pres">
      <dgm:prSet presAssocID="{96CFCCB1-E1C0-4EFE-AB8F-E555E0C222A8}" presName="nodeRect" presStyleLbl="alignNode1" presStyleIdx="1" presStyleCnt="3">
        <dgm:presLayoutVars>
          <dgm:bulletEnabled val="1"/>
        </dgm:presLayoutVars>
      </dgm:prSet>
      <dgm:spPr/>
    </dgm:pt>
    <dgm:pt modelId="{6528C49D-75F6-43E1-8BF1-F16460AB46F5}" type="pres">
      <dgm:prSet presAssocID="{4A8A7B45-9426-43CA-96A3-D4B19A9FD47D}" presName="sibTrans" presStyleCnt="0"/>
      <dgm:spPr/>
    </dgm:pt>
    <dgm:pt modelId="{283BD6D8-DE33-4FD8-A04A-22DA5612BADE}" type="pres">
      <dgm:prSet presAssocID="{B82C2FD9-AB71-4087-906E-AA32B5D517C9}" presName="compositeNode" presStyleCnt="0">
        <dgm:presLayoutVars>
          <dgm:bulletEnabled val="1"/>
        </dgm:presLayoutVars>
      </dgm:prSet>
      <dgm:spPr/>
    </dgm:pt>
    <dgm:pt modelId="{C81F6158-FBA2-430B-BFE0-F57FFE2EFC15}" type="pres">
      <dgm:prSet presAssocID="{B82C2FD9-AB71-4087-906E-AA32B5D517C9}" presName="bgRect" presStyleLbl="alignNode1" presStyleIdx="2" presStyleCnt="3"/>
      <dgm:spPr/>
    </dgm:pt>
    <dgm:pt modelId="{42ACB8E8-35AE-4EEE-B126-96467D957F12}" type="pres">
      <dgm:prSet presAssocID="{394016CF-29A4-42ED-AFA7-B951020C8FF1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67946F79-4A7E-4AF4-86A7-4410D2FC9030}" type="pres">
      <dgm:prSet presAssocID="{B82C2FD9-AB71-4087-906E-AA32B5D517C9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DD2F2D0A-5992-431B-A44D-BCF88B841C0E}" type="presOf" srcId="{96CFCCB1-E1C0-4EFE-AB8F-E555E0C222A8}" destId="{B12F9623-1152-4064-9C5A-02A51726856D}" srcOrd="0" destOrd="0" presId="urn:microsoft.com/office/officeart/2016/7/layout/LinearBlockProcessNumbered"/>
    <dgm:cxn modelId="{0C55AC0D-F13E-46FC-88E2-E6C7D87D0465}" type="presOf" srcId="{B82C2FD9-AB71-4087-906E-AA32B5D517C9}" destId="{C81F6158-FBA2-430B-BFE0-F57FFE2EFC15}" srcOrd="0" destOrd="0" presId="urn:microsoft.com/office/officeart/2016/7/layout/LinearBlockProcessNumbered"/>
    <dgm:cxn modelId="{39D06F1F-109B-44BF-9793-C44AA62A31E1}" srcId="{0FF6EF45-595C-4EBE-ABAA-F89CFF747962}" destId="{96CFCCB1-E1C0-4EFE-AB8F-E555E0C222A8}" srcOrd="1" destOrd="0" parTransId="{B51C9114-216F-4705-87F3-E245AF8E0378}" sibTransId="{4A8A7B45-9426-43CA-96A3-D4B19A9FD47D}"/>
    <dgm:cxn modelId="{995F1A2A-8FEA-47DC-BF9F-E0651A2F7A15}" srcId="{0FF6EF45-595C-4EBE-ABAA-F89CFF747962}" destId="{B82C2FD9-AB71-4087-906E-AA32B5D517C9}" srcOrd="2" destOrd="0" parTransId="{DDF1ECAB-0AB7-49ED-8433-822A6518FF3B}" sibTransId="{394016CF-29A4-42ED-AFA7-B951020C8FF1}"/>
    <dgm:cxn modelId="{69F04F30-2A46-488E-A3C6-D0367A744A97}" type="presOf" srcId="{E2C9FA24-1287-446B-B812-068323DDD9E8}" destId="{CD04BB9B-2251-44BA-9505-487617DE65B3}" srcOrd="1" destOrd="0" presId="urn:microsoft.com/office/officeart/2016/7/layout/LinearBlockProcessNumbered"/>
    <dgm:cxn modelId="{289F5636-9429-4838-8DC3-35A08B0AA6EA}" type="presOf" srcId="{E2C9FA24-1287-446B-B812-068323DDD9E8}" destId="{CB46833F-BB85-4FD0-A857-A4E9AEB786C2}" srcOrd="0" destOrd="0" presId="urn:microsoft.com/office/officeart/2016/7/layout/LinearBlockProcessNumbered"/>
    <dgm:cxn modelId="{0C74AC3F-8256-41D1-A2F3-CF04672E5C15}" srcId="{0FF6EF45-595C-4EBE-ABAA-F89CFF747962}" destId="{E2C9FA24-1287-446B-B812-068323DDD9E8}" srcOrd="0" destOrd="0" parTransId="{65756EAD-5640-4DD0-91CE-286526486EE3}" sibTransId="{61AC6A2A-4095-4DD1-917A-3559166E00AB}"/>
    <dgm:cxn modelId="{5010886F-6E66-472C-94E7-011D38335E92}" type="presOf" srcId="{B82C2FD9-AB71-4087-906E-AA32B5D517C9}" destId="{67946F79-4A7E-4AF4-86A7-4410D2FC9030}" srcOrd="1" destOrd="0" presId="urn:microsoft.com/office/officeart/2016/7/layout/LinearBlockProcessNumbered"/>
    <dgm:cxn modelId="{E3B54F9A-A126-4158-B579-CA28EE6FA9EE}" type="presOf" srcId="{0FF6EF45-595C-4EBE-ABAA-F89CFF747962}" destId="{8C8840E1-0C80-4836-8FBD-2641533963CC}" srcOrd="0" destOrd="0" presId="urn:microsoft.com/office/officeart/2016/7/layout/LinearBlockProcessNumbered"/>
    <dgm:cxn modelId="{81BBF2A4-94DB-4C3B-B72E-9F0182023B13}" type="presOf" srcId="{61AC6A2A-4095-4DD1-917A-3559166E00AB}" destId="{F6DEBFD7-57C7-45EA-8686-99B1B0A622F7}" srcOrd="0" destOrd="0" presId="urn:microsoft.com/office/officeart/2016/7/layout/LinearBlockProcessNumbered"/>
    <dgm:cxn modelId="{D2EBB4E3-1F02-4155-98DB-8A36DFED8484}" type="presOf" srcId="{96CFCCB1-E1C0-4EFE-AB8F-E555E0C222A8}" destId="{4191B5B1-11FF-46BE-82F0-FE917F4F08F7}" srcOrd="1" destOrd="0" presId="urn:microsoft.com/office/officeart/2016/7/layout/LinearBlockProcessNumbered"/>
    <dgm:cxn modelId="{8A58AAF1-D183-49E9-8CBC-930F6192B08A}" type="presOf" srcId="{394016CF-29A4-42ED-AFA7-B951020C8FF1}" destId="{42ACB8E8-35AE-4EEE-B126-96467D957F12}" srcOrd="0" destOrd="0" presId="urn:microsoft.com/office/officeart/2016/7/layout/LinearBlockProcessNumbered"/>
    <dgm:cxn modelId="{646898FB-7536-4338-938C-1E9CD458A4DE}" type="presOf" srcId="{4A8A7B45-9426-43CA-96A3-D4B19A9FD47D}" destId="{020C09CF-277E-4EF0-B763-6FFCF354B4D9}" srcOrd="0" destOrd="0" presId="urn:microsoft.com/office/officeart/2016/7/layout/LinearBlockProcessNumbered"/>
    <dgm:cxn modelId="{21DE35D8-D3B0-4687-94CD-EFDFC0D3B139}" type="presParOf" srcId="{8C8840E1-0C80-4836-8FBD-2641533963CC}" destId="{8BCDC274-4B3D-4DC1-83EB-E1690512816B}" srcOrd="0" destOrd="0" presId="urn:microsoft.com/office/officeart/2016/7/layout/LinearBlockProcessNumbered"/>
    <dgm:cxn modelId="{F20B2702-8BEF-44E6-8224-CE3BAA4556D2}" type="presParOf" srcId="{8BCDC274-4B3D-4DC1-83EB-E1690512816B}" destId="{CB46833F-BB85-4FD0-A857-A4E9AEB786C2}" srcOrd="0" destOrd="0" presId="urn:microsoft.com/office/officeart/2016/7/layout/LinearBlockProcessNumbered"/>
    <dgm:cxn modelId="{C897399D-899A-4BB4-94B0-5F6C1E5ECB63}" type="presParOf" srcId="{8BCDC274-4B3D-4DC1-83EB-E1690512816B}" destId="{F6DEBFD7-57C7-45EA-8686-99B1B0A622F7}" srcOrd="1" destOrd="0" presId="urn:microsoft.com/office/officeart/2016/7/layout/LinearBlockProcessNumbered"/>
    <dgm:cxn modelId="{4466E9F9-A517-4229-9DB6-354DB7BFBFE5}" type="presParOf" srcId="{8BCDC274-4B3D-4DC1-83EB-E1690512816B}" destId="{CD04BB9B-2251-44BA-9505-487617DE65B3}" srcOrd="2" destOrd="0" presId="urn:microsoft.com/office/officeart/2016/7/layout/LinearBlockProcessNumbered"/>
    <dgm:cxn modelId="{8BD73712-EA7F-40CD-B2E6-34213D74CC73}" type="presParOf" srcId="{8C8840E1-0C80-4836-8FBD-2641533963CC}" destId="{F87D0FC9-4430-46FC-8148-32A5DF96E526}" srcOrd="1" destOrd="0" presId="urn:microsoft.com/office/officeart/2016/7/layout/LinearBlockProcessNumbered"/>
    <dgm:cxn modelId="{0E3E1947-713D-48B8-9504-E04B43FA1BB1}" type="presParOf" srcId="{8C8840E1-0C80-4836-8FBD-2641533963CC}" destId="{AE92C244-9554-43FD-9AFE-F0F7B42EB7D8}" srcOrd="2" destOrd="0" presId="urn:microsoft.com/office/officeart/2016/7/layout/LinearBlockProcessNumbered"/>
    <dgm:cxn modelId="{89A4F00C-59F6-492E-9026-99E26E3503C4}" type="presParOf" srcId="{AE92C244-9554-43FD-9AFE-F0F7B42EB7D8}" destId="{B12F9623-1152-4064-9C5A-02A51726856D}" srcOrd="0" destOrd="0" presId="urn:microsoft.com/office/officeart/2016/7/layout/LinearBlockProcessNumbered"/>
    <dgm:cxn modelId="{E5C2D216-67F0-4BB7-8278-FC25C7554E47}" type="presParOf" srcId="{AE92C244-9554-43FD-9AFE-F0F7B42EB7D8}" destId="{020C09CF-277E-4EF0-B763-6FFCF354B4D9}" srcOrd="1" destOrd="0" presId="urn:microsoft.com/office/officeart/2016/7/layout/LinearBlockProcessNumbered"/>
    <dgm:cxn modelId="{605D8B05-F319-468D-9EDC-275166F2F44D}" type="presParOf" srcId="{AE92C244-9554-43FD-9AFE-F0F7B42EB7D8}" destId="{4191B5B1-11FF-46BE-82F0-FE917F4F08F7}" srcOrd="2" destOrd="0" presId="urn:microsoft.com/office/officeart/2016/7/layout/LinearBlockProcessNumbered"/>
    <dgm:cxn modelId="{69095B71-226A-44C8-B90F-84F28A18DD07}" type="presParOf" srcId="{8C8840E1-0C80-4836-8FBD-2641533963CC}" destId="{6528C49D-75F6-43E1-8BF1-F16460AB46F5}" srcOrd="3" destOrd="0" presId="urn:microsoft.com/office/officeart/2016/7/layout/LinearBlockProcessNumbered"/>
    <dgm:cxn modelId="{C71E07B9-2741-4870-B0D4-77ACB9363A77}" type="presParOf" srcId="{8C8840E1-0C80-4836-8FBD-2641533963CC}" destId="{283BD6D8-DE33-4FD8-A04A-22DA5612BADE}" srcOrd="4" destOrd="0" presId="urn:microsoft.com/office/officeart/2016/7/layout/LinearBlockProcessNumbered"/>
    <dgm:cxn modelId="{C448089B-844D-4CA9-82DF-BE2D382319C6}" type="presParOf" srcId="{283BD6D8-DE33-4FD8-A04A-22DA5612BADE}" destId="{C81F6158-FBA2-430B-BFE0-F57FFE2EFC15}" srcOrd="0" destOrd="0" presId="urn:microsoft.com/office/officeart/2016/7/layout/LinearBlockProcessNumbered"/>
    <dgm:cxn modelId="{70B95A86-08CD-476F-A509-E62376C34A4D}" type="presParOf" srcId="{283BD6D8-DE33-4FD8-A04A-22DA5612BADE}" destId="{42ACB8E8-35AE-4EEE-B126-96467D957F12}" srcOrd="1" destOrd="0" presId="urn:microsoft.com/office/officeart/2016/7/layout/LinearBlockProcessNumbered"/>
    <dgm:cxn modelId="{D23A6450-78BD-4DCA-80F2-CE5A6BB14C2F}" type="presParOf" srcId="{283BD6D8-DE33-4FD8-A04A-22DA5612BADE}" destId="{67946F79-4A7E-4AF4-86A7-4410D2FC9030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95E6A8C-C9B3-448D-90F6-29A03466DF16}" type="doc">
      <dgm:prSet loTypeId="urn:microsoft.com/office/officeart/2005/8/layout/vProcess5" loCatId="process" qsTypeId="urn:microsoft.com/office/officeart/2005/8/quickstyle/simple1#3" qsCatId="simple" csTypeId="urn:microsoft.com/office/officeart/2005/8/colors/accent0_3#3" csCatId="mainScheme"/>
      <dgm:spPr/>
      <dgm:t>
        <a:bodyPr/>
        <a:lstStyle/>
        <a:p>
          <a:endParaRPr lang="en-US"/>
        </a:p>
      </dgm:t>
    </dgm:pt>
    <dgm:pt modelId="{6B2F15D7-BCC5-4B38-8356-9697D4458727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dirty="0">
              <a:latin typeface="Century Gothic"/>
            </a:rPr>
            <a:t>The</a:t>
          </a:r>
          <a:r>
            <a:rPr lang="en-US" sz="1600" dirty="0"/>
            <a:t> province became a frontline during the </a:t>
          </a:r>
          <a:r>
            <a:rPr lang="en-US" sz="1600" b="1" dirty="0"/>
            <a:t>Soviet-Afghan War</a:t>
          </a:r>
          <a:r>
            <a:rPr lang="en-US" sz="1600" dirty="0"/>
            <a:t> and later the</a:t>
          </a:r>
          <a:r>
            <a:rPr lang="en-US" sz="1600" b="1" dirty="0"/>
            <a:t> War on Terror</a:t>
          </a:r>
          <a:r>
            <a:rPr lang="en-US" sz="1600" dirty="0"/>
            <a:t>, bringing instability, terrorism, and economic damage.</a:t>
          </a:r>
        </a:p>
      </dgm:t>
    </dgm:pt>
    <dgm:pt modelId="{3D46458E-BFF6-4960-BA11-8651B6A1C1CF}" type="parTrans" cxnId="{3F7DF8F8-0CB0-420E-AEAC-BD7B291E416E}">
      <dgm:prSet/>
      <dgm:spPr/>
      <dgm:t>
        <a:bodyPr/>
        <a:lstStyle/>
        <a:p>
          <a:endParaRPr lang="en-US"/>
        </a:p>
      </dgm:t>
    </dgm:pt>
    <dgm:pt modelId="{E8CE8279-F69B-4C88-882A-CE4A5F0FF85F}" type="sibTrans" cxnId="{3F7DF8F8-0CB0-420E-AEAC-BD7B291E416E}">
      <dgm:prSet/>
      <dgm:spPr/>
      <dgm:t>
        <a:bodyPr/>
        <a:lstStyle/>
        <a:p>
          <a:endParaRPr lang="en-US"/>
        </a:p>
      </dgm:t>
    </dgm:pt>
    <dgm:pt modelId="{F6B66211-1199-4491-800C-6D01BF069057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 altLang="en-US" sz="1600" dirty="0"/>
        </a:p>
      </dgm:t>
    </dgm:pt>
    <dgm:pt modelId="{1201BC3F-0E5D-45D2-B86C-137613C5B980}" type="parTrans" cxnId="{2E437DBB-6B51-4634-B075-8C38B1F7F923}">
      <dgm:prSet/>
      <dgm:spPr/>
      <dgm:t>
        <a:bodyPr/>
        <a:lstStyle/>
        <a:p>
          <a:endParaRPr lang="en-US"/>
        </a:p>
      </dgm:t>
    </dgm:pt>
    <dgm:pt modelId="{A8D5F90E-A427-41A7-9C04-2F2676064868}" type="sibTrans" cxnId="{2E437DBB-6B51-4634-B075-8C38B1F7F923}">
      <dgm:prSet/>
      <dgm:spPr/>
      <dgm:t>
        <a:bodyPr/>
        <a:lstStyle/>
        <a:p>
          <a:endParaRPr lang="en-US"/>
        </a:p>
      </dgm:t>
    </dgm:pt>
    <dgm:pt modelId="{5669D8EF-B722-4D67-9F7F-32D9C750D778}">
      <dgm:prSet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/>
            <a:t>KPK produced significant hydropower, but profits were retained by the federal government, leaving the province underfunded for local development.</a:t>
          </a:r>
          <a:endParaRPr dirty="0"/>
        </a:p>
      </dgm:t>
    </dgm:pt>
    <dgm:pt modelId="{6C23A7E2-7931-41B0-9911-91F5431608A1}" type="parTrans" cxnId="{30C707DD-FAEB-4031-9A49-ACAE4A738F95}">
      <dgm:prSet/>
      <dgm:spPr/>
      <dgm:t>
        <a:bodyPr/>
        <a:lstStyle/>
        <a:p>
          <a:endParaRPr lang="en-US"/>
        </a:p>
      </dgm:t>
    </dgm:pt>
    <dgm:pt modelId="{0A32C7E7-B6D6-4EE1-8AB4-21C8EBEAAD73}" type="sibTrans" cxnId="{30C707DD-FAEB-4031-9A49-ACAE4A738F95}">
      <dgm:prSet/>
      <dgm:spPr/>
      <dgm:t>
        <a:bodyPr/>
        <a:lstStyle/>
        <a:p>
          <a:endParaRPr lang="en-US"/>
        </a:p>
      </dgm:t>
    </dgm:pt>
    <dgm:pt modelId="{1C3C4744-23DE-4B8F-836F-9B12A75AACFB}" type="pres">
      <dgm:prSet presAssocID="{795E6A8C-C9B3-448D-90F6-29A03466DF16}" presName="outerComposite" presStyleCnt="0">
        <dgm:presLayoutVars>
          <dgm:chMax val="5"/>
          <dgm:dir/>
          <dgm:resizeHandles val="exact"/>
        </dgm:presLayoutVars>
      </dgm:prSet>
      <dgm:spPr/>
    </dgm:pt>
    <dgm:pt modelId="{C665C63E-F794-425D-BD97-186F51162E50}" type="pres">
      <dgm:prSet presAssocID="{795E6A8C-C9B3-448D-90F6-29A03466DF16}" presName="dummyMaxCanvas" presStyleCnt="0">
        <dgm:presLayoutVars/>
      </dgm:prSet>
      <dgm:spPr/>
    </dgm:pt>
    <dgm:pt modelId="{E6BD0980-4DB1-46E8-8ABD-713725BF3CE0}" type="pres">
      <dgm:prSet presAssocID="{795E6A8C-C9B3-448D-90F6-29A03466DF16}" presName="TwoNodes_1" presStyleLbl="node1" presStyleIdx="0" presStyleCnt="2">
        <dgm:presLayoutVars>
          <dgm:bulletEnabled val="1"/>
        </dgm:presLayoutVars>
      </dgm:prSet>
      <dgm:spPr/>
    </dgm:pt>
    <dgm:pt modelId="{8693E242-3BA8-4337-9B7D-872B9099D69B}" type="pres">
      <dgm:prSet presAssocID="{795E6A8C-C9B3-448D-90F6-29A03466DF16}" presName="TwoNodes_2" presStyleLbl="node1" presStyleIdx="1" presStyleCnt="2">
        <dgm:presLayoutVars>
          <dgm:bulletEnabled val="1"/>
        </dgm:presLayoutVars>
      </dgm:prSet>
      <dgm:spPr/>
    </dgm:pt>
    <dgm:pt modelId="{DD309278-B1D3-4BD1-80A8-59D8696D5A52}" type="pres">
      <dgm:prSet presAssocID="{795E6A8C-C9B3-448D-90F6-29A03466DF16}" presName="TwoConn_1-2" presStyleLbl="fgAccFollowNode1" presStyleIdx="0" presStyleCnt="1">
        <dgm:presLayoutVars>
          <dgm:bulletEnabled val="1"/>
        </dgm:presLayoutVars>
      </dgm:prSet>
      <dgm:spPr/>
    </dgm:pt>
    <dgm:pt modelId="{F59C859E-D543-474D-BAF1-710E30AC1547}" type="pres">
      <dgm:prSet presAssocID="{795E6A8C-C9B3-448D-90F6-29A03466DF16}" presName="TwoNodes_1_text" presStyleLbl="node1" presStyleIdx="1" presStyleCnt="2">
        <dgm:presLayoutVars>
          <dgm:bulletEnabled val="1"/>
        </dgm:presLayoutVars>
      </dgm:prSet>
      <dgm:spPr/>
    </dgm:pt>
    <dgm:pt modelId="{E1BB791F-1A7F-4BDE-B112-3952FED3FB79}" type="pres">
      <dgm:prSet presAssocID="{795E6A8C-C9B3-448D-90F6-29A03466DF16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16950315-BAEF-4DE5-9C14-B2110BE1BDCC}" type="presOf" srcId="{5669D8EF-B722-4D67-9F7F-32D9C750D778}" destId="{8693E242-3BA8-4337-9B7D-872B9099D69B}" srcOrd="0" destOrd="0" presId="urn:microsoft.com/office/officeart/2005/8/layout/vProcess5"/>
    <dgm:cxn modelId="{ED120017-03EF-4E11-8C36-4D27AE1025F2}" type="presOf" srcId="{5669D8EF-B722-4D67-9F7F-32D9C750D778}" destId="{E1BB791F-1A7F-4BDE-B112-3952FED3FB79}" srcOrd="1" destOrd="0" presId="urn:microsoft.com/office/officeart/2005/8/layout/vProcess5"/>
    <dgm:cxn modelId="{CE02A161-9944-45C8-BF86-A9D06F42309D}" type="presOf" srcId="{E8CE8279-F69B-4C88-882A-CE4A5F0FF85F}" destId="{DD309278-B1D3-4BD1-80A8-59D8696D5A52}" srcOrd="0" destOrd="0" presId="urn:microsoft.com/office/officeart/2005/8/layout/vProcess5"/>
    <dgm:cxn modelId="{F146F36F-64F6-4D86-8879-4F6B7BC19234}" type="presOf" srcId="{6B2F15D7-BCC5-4B38-8356-9697D4458727}" destId="{E6BD0980-4DB1-46E8-8ABD-713725BF3CE0}" srcOrd="0" destOrd="0" presId="urn:microsoft.com/office/officeart/2005/8/layout/vProcess5"/>
    <dgm:cxn modelId="{F9139B56-6700-4B9E-A16E-E1BC2AEDC0D1}" type="presOf" srcId="{795E6A8C-C9B3-448D-90F6-29A03466DF16}" destId="{1C3C4744-23DE-4B8F-836F-9B12A75AACFB}" srcOrd="0" destOrd="0" presId="urn:microsoft.com/office/officeart/2005/8/layout/vProcess5"/>
    <dgm:cxn modelId="{A17E41B1-C2F9-4497-83A8-5B868955DC24}" type="presOf" srcId="{6B2F15D7-BCC5-4B38-8356-9697D4458727}" destId="{F59C859E-D543-474D-BAF1-710E30AC1547}" srcOrd="1" destOrd="0" presId="urn:microsoft.com/office/officeart/2005/8/layout/vProcess5"/>
    <dgm:cxn modelId="{2E437DBB-6B51-4634-B075-8C38B1F7F923}" srcId="{6B2F15D7-BCC5-4B38-8356-9697D4458727}" destId="{F6B66211-1199-4491-800C-6D01BF069057}" srcOrd="0" destOrd="0" parTransId="{1201BC3F-0E5D-45D2-B86C-137613C5B980}" sibTransId="{A8D5F90E-A427-41A7-9C04-2F2676064868}"/>
    <dgm:cxn modelId="{30C707DD-FAEB-4031-9A49-ACAE4A738F95}" srcId="{795E6A8C-C9B3-448D-90F6-29A03466DF16}" destId="{5669D8EF-B722-4D67-9F7F-32D9C750D778}" srcOrd="1" destOrd="0" parTransId="{6C23A7E2-7931-41B0-9911-91F5431608A1}" sibTransId="{0A32C7E7-B6D6-4EE1-8AB4-21C8EBEAAD73}"/>
    <dgm:cxn modelId="{3F7DF8F8-0CB0-420E-AEAC-BD7B291E416E}" srcId="{795E6A8C-C9B3-448D-90F6-29A03466DF16}" destId="{6B2F15D7-BCC5-4B38-8356-9697D4458727}" srcOrd="0" destOrd="0" parTransId="{3D46458E-BFF6-4960-BA11-8651B6A1C1CF}" sibTransId="{E8CE8279-F69B-4C88-882A-CE4A5F0FF85F}"/>
    <dgm:cxn modelId="{34914EF9-7E43-47F8-9333-8C48F96BD407}" type="presOf" srcId="{F6B66211-1199-4491-800C-6D01BF069057}" destId="{F59C859E-D543-474D-BAF1-710E30AC1547}" srcOrd="1" destOrd="1" presId="urn:microsoft.com/office/officeart/2005/8/layout/vProcess5"/>
    <dgm:cxn modelId="{D2462FFB-9F33-4C49-BFCE-18A6D32A1EBB}" type="presOf" srcId="{F6B66211-1199-4491-800C-6D01BF069057}" destId="{E6BD0980-4DB1-46E8-8ABD-713725BF3CE0}" srcOrd="0" destOrd="1" presId="urn:microsoft.com/office/officeart/2005/8/layout/vProcess5"/>
    <dgm:cxn modelId="{8458D416-CF81-421C-904A-7EFB58E889F6}" type="presParOf" srcId="{1C3C4744-23DE-4B8F-836F-9B12A75AACFB}" destId="{C665C63E-F794-425D-BD97-186F51162E50}" srcOrd="0" destOrd="0" presId="urn:microsoft.com/office/officeart/2005/8/layout/vProcess5"/>
    <dgm:cxn modelId="{5B96E1F6-08EE-4FAA-B15B-83ED3D0B84B3}" type="presParOf" srcId="{1C3C4744-23DE-4B8F-836F-9B12A75AACFB}" destId="{E6BD0980-4DB1-46E8-8ABD-713725BF3CE0}" srcOrd="1" destOrd="0" presId="urn:microsoft.com/office/officeart/2005/8/layout/vProcess5"/>
    <dgm:cxn modelId="{FE8626F0-B6EA-42FA-8F76-8F87B1C6818C}" type="presParOf" srcId="{1C3C4744-23DE-4B8F-836F-9B12A75AACFB}" destId="{8693E242-3BA8-4337-9B7D-872B9099D69B}" srcOrd="2" destOrd="0" presId="urn:microsoft.com/office/officeart/2005/8/layout/vProcess5"/>
    <dgm:cxn modelId="{26E05C98-0823-4F9F-8BC1-362EAEB0D5B7}" type="presParOf" srcId="{1C3C4744-23DE-4B8F-836F-9B12A75AACFB}" destId="{DD309278-B1D3-4BD1-80A8-59D8696D5A52}" srcOrd="3" destOrd="0" presId="urn:microsoft.com/office/officeart/2005/8/layout/vProcess5"/>
    <dgm:cxn modelId="{5F5D3197-E3A2-4EF9-AE08-0D1C1C6E74B1}" type="presParOf" srcId="{1C3C4744-23DE-4B8F-836F-9B12A75AACFB}" destId="{F59C859E-D543-474D-BAF1-710E30AC1547}" srcOrd="4" destOrd="0" presId="urn:microsoft.com/office/officeart/2005/8/layout/vProcess5"/>
    <dgm:cxn modelId="{311779BF-FDBA-47B1-B0D4-3B28D4A87E3C}" type="presParOf" srcId="{1C3C4744-23DE-4B8F-836F-9B12A75AACFB}" destId="{E1BB791F-1A7F-4BDE-B112-3952FED3FB79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D0461C0-3B3E-4E90-8960-5F55586F24D9}" type="doc">
      <dgm:prSet loTypeId="urn:microsoft.com/office/officeart/2005/8/layout/vList2#1" loCatId="list" qsTypeId="urn:microsoft.com/office/officeart/2005/8/quickstyle/simple1#4" qsCatId="simple" csTypeId="urn:microsoft.com/office/officeart/2005/8/colors/accent0_3#4" csCatId="mainScheme"/>
      <dgm:spPr/>
      <dgm:t>
        <a:bodyPr/>
        <a:lstStyle/>
        <a:p>
          <a:endParaRPr lang="en-US"/>
        </a:p>
      </dgm:t>
    </dgm:pt>
    <dgm:pt modelId="{0A171633-67F0-46F8-B895-D6711C6ED423}">
      <dgm:prSet/>
      <dgm:spPr/>
      <dgm:t>
        <a:bodyPr/>
        <a:lstStyle/>
        <a:p>
          <a:r>
            <a:rPr lang="en-US" dirty="0"/>
            <a:t>Ethnic and regional disputes delayed the adoption of the first constitution until </a:t>
          </a:r>
          <a:r>
            <a:rPr lang="en-US" b="1" dirty="0"/>
            <a:t>1956</a:t>
          </a:r>
          <a:r>
            <a:rPr lang="en-US" dirty="0"/>
            <a:t>, reflecting political instability.</a:t>
          </a:r>
        </a:p>
      </dgm:t>
    </dgm:pt>
    <dgm:pt modelId="{186D76BD-EF79-47AE-BE04-41522DDF111E}" type="parTrans" cxnId="{A146DF48-AA01-4703-99C5-C7A41A8A1B1B}">
      <dgm:prSet/>
      <dgm:spPr/>
      <dgm:t>
        <a:bodyPr/>
        <a:lstStyle/>
        <a:p>
          <a:endParaRPr lang="en-US"/>
        </a:p>
      </dgm:t>
    </dgm:pt>
    <dgm:pt modelId="{64DCF448-8FB7-4D3E-B9C7-EA1B66D33045}" type="sibTrans" cxnId="{A146DF48-AA01-4703-99C5-C7A41A8A1B1B}">
      <dgm:prSet/>
      <dgm:spPr/>
      <dgm:t>
        <a:bodyPr/>
        <a:lstStyle/>
        <a:p>
          <a:endParaRPr lang="en-US"/>
        </a:p>
      </dgm:t>
    </dgm:pt>
    <dgm:pt modelId="{191C1628-EB53-4EAA-A587-E706C94EC5E1}">
      <dgm:prSet/>
      <dgm:spPr/>
      <dgm:t>
        <a:bodyPr/>
        <a:lstStyle/>
        <a:p>
          <a:r>
            <a:rPr lang="en-US" dirty="0"/>
            <a:t>Ayub Khan introduced the </a:t>
          </a:r>
          <a:r>
            <a:rPr lang="en-US" b="1" dirty="0"/>
            <a:t>1962 Constitution</a:t>
          </a:r>
          <a:r>
            <a:rPr lang="en-US" dirty="0"/>
            <a:t>, which centralized power in the presidency and sidelined provinces.</a:t>
          </a:r>
        </a:p>
      </dgm:t>
    </dgm:pt>
    <dgm:pt modelId="{6E104F4D-48AF-4F1A-BAB7-D2003F8B3E4E}" type="parTrans" cxnId="{0EAA3580-D7DB-4729-96FE-AEF8F0AD5DD0}">
      <dgm:prSet/>
      <dgm:spPr/>
      <dgm:t>
        <a:bodyPr/>
        <a:lstStyle/>
        <a:p>
          <a:endParaRPr lang="en-US"/>
        </a:p>
      </dgm:t>
    </dgm:pt>
    <dgm:pt modelId="{EA99E95F-BC47-49B8-8974-3264EBA9F27D}" type="sibTrans" cxnId="{0EAA3580-D7DB-4729-96FE-AEF8F0AD5DD0}">
      <dgm:prSet/>
      <dgm:spPr/>
      <dgm:t>
        <a:bodyPr/>
        <a:lstStyle/>
        <a:p>
          <a:endParaRPr lang="en-US"/>
        </a:p>
      </dgm:t>
    </dgm:pt>
    <dgm:pt modelId="{ED5BF9A1-1E90-424F-811F-06B72F34DA25}">
      <dgm:prSet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/>
            <a:t>Economic disparities and political marginalization of East Pakistan fueled unrest, culminating in </a:t>
          </a:r>
          <a:r>
            <a:rPr lang="en-US" b="1" dirty="0"/>
            <a:t>Mujib’s Six Points (1966)</a:t>
          </a:r>
          <a:r>
            <a:rPr lang="en-US" dirty="0"/>
            <a:t>.</a:t>
          </a:r>
          <a:endParaRPr/>
        </a:p>
      </dgm:t>
    </dgm:pt>
    <dgm:pt modelId="{60C2A435-A99F-4693-81D4-DF02EC08A191}" type="parTrans" cxnId="{6CC7249C-E658-4C2F-96F4-A7EBB36C8B87}">
      <dgm:prSet/>
      <dgm:spPr/>
      <dgm:t>
        <a:bodyPr/>
        <a:lstStyle/>
        <a:p>
          <a:endParaRPr lang="en-US"/>
        </a:p>
      </dgm:t>
    </dgm:pt>
    <dgm:pt modelId="{AA21E8E6-36C4-4AEE-BC28-10F85E36362F}" type="sibTrans" cxnId="{6CC7249C-E658-4C2F-96F4-A7EBB36C8B87}">
      <dgm:prSet/>
      <dgm:spPr/>
      <dgm:t>
        <a:bodyPr/>
        <a:lstStyle/>
        <a:p>
          <a:endParaRPr lang="en-US"/>
        </a:p>
      </dgm:t>
    </dgm:pt>
    <dgm:pt modelId="{72F36BDA-CC60-4522-9695-8010E724FC81}">
      <dgm:prSet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T</a:t>
          </a:r>
          <a:r>
            <a:rPr lang="en-US" dirty="0">
              <a:solidFill>
                <a:schemeClr val="tx1"/>
              </a:solidFill>
              <a:sym typeface="+mn-ea"/>
            </a:rPr>
            <a:t>he </a:t>
          </a:r>
          <a:r>
            <a:rPr>
              <a:sym typeface="+mn-ea"/>
            </a:rPr>
            <a:t>B</a:t>
          </a:r>
          <a:r>
            <a:rPr lang="en-US" b="1" dirty="0">
              <a:solidFill>
                <a:schemeClr val="tx1"/>
              </a:solidFill>
              <a:sym typeface="+mn-ea"/>
            </a:rPr>
            <a:t>angladesh</a:t>
          </a:r>
          <a:r>
            <a:rPr>
              <a:sym typeface="+mn-ea"/>
            </a:rPr>
            <a:t> </a:t>
          </a:r>
          <a:r>
            <a:rPr lang="en-US" b="1" dirty="0">
              <a:solidFill>
                <a:schemeClr val="tx1"/>
              </a:solidFill>
              <a:latin typeface="Century Gothic" panose="020B0502020202020204"/>
              <a:sym typeface="+mn-ea"/>
            </a:rPr>
            <a:t>freedom</a:t>
          </a:r>
          <a:r>
            <a:rPr>
              <a:sym typeface="+mn-ea"/>
            </a:rPr>
            <a:t> </a:t>
          </a:r>
          <a:r>
            <a:rPr lang="en-US" b="1" dirty="0">
              <a:solidFill>
                <a:schemeClr val="tx1"/>
              </a:solidFill>
              <a:sym typeface="+mn-ea"/>
            </a:rPr>
            <a:t>War</a:t>
          </a:r>
          <a:r>
            <a:rPr>
              <a:sym typeface="+mn-ea"/>
            </a:rPr>
            <a:t> </a:t>
          </a:r>
          <a:r>
            <a:rPr lang="en-US" dirty="0">
              <a:solidFill>
                <a:schemeClr val="tx1"/>
              </a:solidFill>
              <a:sym typeface="+mn-ea"/>
            </a:rPr>
            <a:t>occurred after the federal government refused to transfer power to Mujib</a:t>
          </a:r>
          <a:r>
            <a:rPr>
              <a:sym typeface="+mn-ea"/>
            </a:rPr>
            <a:t> </a:t>
          </a:r>
          <a:r>
            <a:rPr lang="en-US" dirty="0">
              <a:solidFill>
                <a:schemeClr val="tx1"/>
              </a:solidFill>
              <a:sym typeface="+mn-ea"/>
            </a:rPr>
            <a:t>and Co.</a:t>
          </a:r>
          <a:r>
            <a:rPr>
              <a:sym typeface="+mn-ea"/>
            </a:rPr>
            <a:t> </a:t>
          </a:r>
          <a:r>
            <a:rPr lang="en-US" dirty="0">
              <a:solidFill>
                <a:schemeClr val="tx1"/>
              </a:solidFill>
              <a:latin typeface="Century Gothic" panose="020B0502020202020204"/>
              <a:sym typeface="+mn-ea"/>
            </a:rPr>
            <a:t>after </a:t>
          </a:r>
          <a:r>
            <a:rPr>
              <a:sym typeface="+mn-ea"/>
            </a:rPr>
            <a:t>t</a:t>
          </a:r>
          <a:r>
            <a:rPr lang="en-US" dirty="0">
              <a:solidFill>
                <a:schemeClr val="tx1"/>
              </a:solidFill>
              <a:sym typeface="+mn-ea"/>
            </a:rPr>
            <a:t>he </a:t>
          </a:r>
          <a:r>
            <a:rPr>
              <a:sym typeface="+mn-ea"/>
            </a:rPr>
            <a:t>1</a:t>
          </a:r>
          <a:r>
            <a:rPr lang="en-US" b="1" dirty="0">
              <a:solidFill>
                <a:schemeClr val="tx1"/>
              </a:solidFill>
              <a:sym typeface="+mn-ea"/>
            </a:rPr>
            <a:t>970 elections</a:t>
          </a:r>
          <a:r>
            <a:rPr>
              <a:sym typeface="+mn-ea"/>
            </a:rPr>
            <a:t>,</a:t>
          </a:r>
          <a:r>
            <a:rPr lang="en-US" dirty="0">
              <a:solidFill>
                <a:schemeClr val="tx1"/>
              </a:solidFill>
              <a:sym typeface="+mn-ea"/>
            </a:rPr>
            <a:t> leading to East Pakistan's secession and the creation of Bangladesh.</a:t>
          </a:r>
          <a:endParaRPr lang="en-US" dirty="0">
            <a:solidFill>
              <a:schemeClr val="tx1"/>
            </a:solidFill>
          </a:endParaRPr>
        </a:p>
      </dgm:t>
    </dgm:pt>
    <dgm:pt modelId="{CDB315B0-B7D3-4819-83F9-D17BCF9294D5}" type="parTrans" cxnId="{2EB330F7-1618-4ACC-BD17-A1220142768F}">
      <dgm:prSet/>
      <dgm:spPr/>
      <dgm:t>
        <a:bodyPr/>
        <a:lstStyle/>
        <a:p>
          <a:endParaRPr lang="en-US"/>
        </a:p>
      </dgm:t>
    </dgm:pt>
    <dgm:pt modelId="{70051624-4343-4ECC-903C-E7C811758450}" type="sibTrans" cxnId="{2EB330F7-1618-4ACC-BD17-A1220142768F}">
      <dgm:prSet/>
      <dgm:spPr/>
      <dgm:t>
        <a:bodyPr/>
        <a:lstStyle/>
        <a:p>
          <a:endParaRPr lang="en-US"/>
        </a:p>
      </dgm:t>
    </dgm:pt>
    <dgm:pt modelId="{A2975D63-B28B-4862-94F3-52FF0BBEB173}">
      <dgm:prSet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20000"/>
            </a:spcAft>
          </a:pPr>
          <a:endParaRPr/>
        </a:p>
      </dgm:t>
    </dgm:pt>
    <dgm:pt modelId="{741654D9-E267-4A18-99F8-27F0A64EF7E2}" type="parTrans" cxnId="{9567456E-170A-40BD-A597-7258E009B9FC}">
      <dgm:prSet/>
      <dgm:spPr/>
      <dgm:t>
        <a:bodyPr/>
        <a:lstStyle/>
        <a:p>
          <a:endParaRPr lang="en-US"/>
        </a:p>
      </dgm:t>
    </dgm:pt>
    <dgm:pt modelId="{4AE391EC-BB57-451E-A4D2-7802765D2964}" type="sibTrans" cxnId="{9567456E-170A-40BD-A597-7258E009B9FC}">
      <dgm:prSet/>
      <dgm:spPr/>
      <dgm:t>
        <a:bodyPr/>
        <a:lstStyle/>
        <a:p>
          <a:endParaRPr lang="en-US"/>
        </a:p>
      </dgm:t>
    </dgm:pt>
    <dgm:pt modelId="{F6E22873-148A-48E4-BA59-A35A6A4272FC}" type="pres">
      <dgm:prSet presAssocID="{8D0461C0-3B3E-4E90-8960-5F55586F24D9}" presName="linear" presStyleCnt="0">
        <dgm:presLayoutVars>
          <dgm:animLvl val="lvl"/>
          <dgm:resizeHandles val="exact"/>
        </dgm:presLayoutVars>
      </dgm:prSet>
      <dgm:spPr/>
    </dgm:pt>
    <dgm:pt modelId="{958035B1-E65F-4EF3-AAEB-7B2CCB6F23E5}" type="pres">
      <dgm:prSet presAssocID="{0A171633-67F0-46F8-B895-D6711C6ED42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89E6CBA-B834-4981-AEF6-8FE8521EC6C0}" type="pres">
      <dgm:prSet presAssocID="{64DCF448-8FB7-4D3E-B9C7-EA1B66D33045}" presName="spacer" presStyleCnt="0"/>
      <dgm:spPr/>
    </dgm:pt>
    <dgm:pt modelId="{776577D8-0A58-4672-A9BF-FC1E2B6E2EB1}" type="pres">
      <dgm:prSet presAssocID="{191C1628-EB53-4EAA-A587-E706C94EC5E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1088C52-5958-4A63-98A3-27726FE8CB8E}" type="pres">
      <dgm:prSet presAssocID="{EA99E95F-BC47-49B8-8974-3264EBA9F27D}" presName="spacer" presStyleCnt="0"/>
      <dgm:spPr/>
    </dgm:pt>
    <dgm:pt modelId="{FF3DCAB4-7EC6-448A-A6B5-31CB775154EE}" type="pres">
      <dgm:prSet presAssocID="{ED5BF9A1-1E90-424F-811F-06B72F34DA2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D6B8224-AD72-4A08-803D-BB1C8C0359AE}" type="pres">
      <dgm:prSet presAssocID="{AA21E8E6-36C4-4AEE-BC28-10F85E36362F}" presName="spacer" presStyleCnt="0"/>
      <dgm:spPr/>
    </dgm:pt>
    <dgm:pt modelId="{464E1473-F8AF-42FB-8F36-8F176CFC3173}" type="pres">
      <dgm:prSet presAssocID="{72F36BDA-CC60-4522-9695-8010E724FC81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1D54B836-9178-48F1-B501-2209610340F1}" type="pres">
      <dgm:prSet presAssocID="{72F36BDA-CC60-4522-9695-8010E724FC81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02790603-CE75-442C-A47D-F37B33527740}" type="presOf" srcId="{A2975D63-B28B-4862-94F3-52FF0BBEB173}" destId="{1D54B836-9178-48F1-B501-2209610340F1}" srcOrd="0" destOrd="0" presId="urn:microsoft.com/office/officeart/2005/8/layout/vList2#1"/>
    <dgm:cxn modelId="{03B12520-95F2-4E3B-A7E3-49AC19D6534E}" type="presOf" srcId="{0A171633-67F0-46F8-B895-D6711C6ED423}" destId="{958035B1-E65F-4EF3-AAEB-7B2CCB6F23E5}" srcOrd="0" destOrd="0" presId="urn:microsoft.com/office/officeart/2005/8/layout/vList2#1"/>
    <dgm:cxn modelId="{A146DF48-AA01-4703-99C5-C7A41A8A1B1B}" srcId="{8D0461C0-3B3E-4E90-8960-5F55586F24D9}" destId="{0A171633-67F0-46F8-B895-D6711C6ED423}" srcOrd="0" destOrd="0" parTransId="{186D76BD-EF79-47AE-BE04-41522DDF111E}" sibTransId="{64DCF448-8FB7-4D3E-B9C7-EA1B66D33045}"/>
    <dgm:cxn modelId="{84D3334A-D7AC-4282-8CCB-A6E3DF30938C}" type="presOf" srcId="{8D0461C0-3B3E-4E90-8960-5F55586F24D9}" destId="{F6E22873-148A-48E4-BA59-A35A6A4272FC}" srcOrd="0" destOrd="0" presId="urn:microsoft.com/office/officeart/2005/8/layout/vList2#1"/>
    <dgm:cxn modelId="{9567456E-170A-40BD-A597-7258E009B9FC}" srcId="{72F36BDA-CC60-4522-9695-8010E724FC81}" destId="{A2975D63-B28B-4862-94F3-52FF0BBEB173}" srcOrd="0" destOrd="0" parTransId="{741654D9-E267-4A18-99F8-27F0A64EF7E2}" sibTransId="{4AE391EC-BB57-451E-A4D2-7802765D2964}"/>
    <dgm:cxn modelId="{16949852-9B04-422B-BB59-F3C08733D7FA}" type="presOf" srcId="{ED5BF9A1-1E90-424F-811F-06B72F34DA25}" destId="{FF3DCAB4-7EC6-448A-A6B5-31CB775154EE}" srcOrd="0" destOrd="0" presId="urn:microsoft.com/office/officeart/2005/8/layout/vList2#1"/>
    <dgm:cxn modelId="{0EAA3580-D7DB-4729-96FE-AEF8F0AD5DD0}" srcId="{8D0461C0-3B3E-4E90-8960-5F55586F24D9}" destId="{191C1628-EB53-4EAA-A587-E706C94EC5E1}" srcOrd="1" destOrd="0" parTransId="{6E104F4D-48AF-4F1A-BAB7-D2003F8B3E4E}" sibTransId="{EA99E95F-BC47-49B8-8974-3264EBA9F27D}"/>
    <dgm:cxn modelId="{9DCADC97-7926-40B2-851D-6920E1CA3CA9}" type="presOf" srcId="{191C1628-EB53-4EAA-A587-E706C94EC5E1}" destId="{776577D8-0A58-4672-A9BF-FC1E2B6E2EB1}" srcOrd="0" destOrd="0" presId="urn:microsoft.com/office/officeart/2005/8/layout/vList2#1"/>
    <dgm:cxn modelId="{6CC7249C-E658-4C2F-96F4-A7EBB36C8B87}" srcId="{8D0461C0-3B3E-4E90-8960-5F55586F24D9}" destId="{ED5BF9A1-1E90-424F-811F-06B72F34DA25}" srcOrd="2" destOrd="0" parTransId="{60C2A435-A99F-4693-81D4-DF02EC08A191}" sibTransId="{AA21E8E6-36C4-4AEE-BC28-10F85E36362F}"/>
    <dgm:cxn modelId="{D969A2D9-F5C9-481B-AED4-BDAFFDBE5D84}" type="presOf" srcId="{72F36BDA-CC60-4522-9695-8010E724FC81}" destId="{464E1473-F8AF-42FB-8F36-8F176CFC3173}" srcOrd="0" destOrd="0" presId="urn:microsoft.com/office/officeart/2005/8/layout/vList2#1"/>
    <dgm:cxn modelId="{2EB330F7-1618-4ACC-BD17-A1220142768F}" srcId="{8D0461C0-3B3E-4E90-8960-5F55586F24D9}" destId="{72F36BDA-CC60-4522-9695-8010E724FC81}" srcOrd="3" destOrd="0" parTransId="{CDB315B0-B7D3-4819-83F9-D17BCF9294D5}" sibTransId="{70051624-4343-4ECC-903C-E7C811758450}"/>
    <dgm:cxn modelId="{CE37B9C8-182E-414B-9648-22B311849CCD}" type="presParOf" srcId="{F6E22873-148A-48E4-BA59-A35A6A4272FC}" destId="{958035B1-E65F-4EF3-AAEB-7B2CCB6F23E5}" srcOrd="0" destOrd="0" presId="urn:microsoft.com/office/officeart/2005/8/layout/vList2#1"/>
    <dgm:cxn modelId="{13C9F50D-B37E-47A7-8F3F-D2D9B45A4A43}" type="presParOf" srcId="{F6E22873-148A-48E4-BA59-A35A6A4272FC}" destId="{389E6CBA-B834-4981-AEF6-8FE8521EC6C0}" srcOrd="1" destOrd="0" presId="urn:microsoft.com/office/officeart/2005/8/layout/vList2#1"/>
    <dgm:cxn modelId="{823FCA0E-0DF8-45A5-81D9-F48D4C61A921}" type="presParOf" srcId="{F6E22873-148A-48E4-BA59-A35A6A4272FC}" destId="{776577D8-0A58-4672-A9BF-FC1E2B6E2EB1}" srcOrd="2" destOrd="0" presId="urn:microsoft.com/office/officeart/2005/8/layout/vList2#1"/>
    <dgm:cxn modelId="{910199A7-9EBB-4661-9909-0FC8C236ED45}" type="presParOf" srcId="{F6E22873-148A-48E4-BA59-A35A6A4272FC}" destId="{31088C52-5958-4A63-98A3-27726FE8CB8E}" srcOrd="3" destOrd="0" presId="urn:microsoft.com/office/officeart/2005/8/layout/vList2#1"/>
    <dgm:cxn modelId="{89D152DB-835C-40CA-A636-DBF363A32E39}" type="presParOf" srcId="{F6E22873-148A-48E4-BA59-A35A6A4272FC}" destId="{FF3DCAB4-7EC6-448A-A6B5-31CB775154EE}" srcOrd="4" destOrd="0" presId="urn:microsoft.com/office/officeart/2005/8/layout/vList2#1"/>
    <dgm:cxn modelId="{7957036B-80C8-42CB-AF9F-789A546E34AE}" type="presParOf" srcId="{F6E22873-148A-48E4-BA59-A35A6A4272FC}" destId="{AD6B8224-AD72-4A08-803D-BB1C8C0359AE}" srcOrd="5" destOrd="0" presId="urn:microsoft.com/office/officeart/2005/8/layout/vList2#1"/>
    <dgm:cxn modelId="{70E6EB0E-DDB5-4EE5-A680-5F936A70512B}" type="presParOf" srcId="{F6E22873-148A-48E4-BA59-A35A6A4272FC}" destId="{464E1473-F8AF-42FB-8F36-8F176CFC3173}" srcOrd="6" destOrd="0" presId="urn:microsoft.com/office/officeart/2005/8/layout/vList2#1"/>
    <dgm:cxn modelId="{45DD6CCA-E2B2-4EE2-9752-F376DE5273C1}" type="presParOf" srcId="{F6E22873-148A-48E4-BA59-A35A6A4272FC}" destId="{1D54B836-9178-48F1-B501-2209610340F1}" srcOrd="7" destOrd="0" presId="urn:microsoft.com/office/officeart/2005/8/layout/vList2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D6359A-A446-4A99-B50F-2EC60D356539}">
      <dsp:nvSpPr>
        <dsp:cNvPr id="0" name=""/>
        <dsp:cNvSpPr/>
      </dsp:nvSpPr>
      <dsp:spPr bwMode="white">
        <a:xfrm>
          <a:off x="0" y="147793"/>
          <a:ext cx="2938860" cy="176331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ctr" defTabSz="2311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>
              <a:sym typeface="+mn-ea"/>
            </a:rPr>
            <a:t>Arooj </a:t>
          </a:r>
          <a:endParaRPr lang="en-US" sz="5200" kern="1200"/>
        </a:p>
      </dsp:txBody>
      <dsp:txXfrm>
        <a:off x="0" y="147793"/>
        <a:ext cx="2938860" cy="1763316"/>
      </dsp:txXfrm>
    </dsp:sp>
    <dsp:sp modelId="{2D61F404-5C83-49BB-B8BF-4993ECFAABCC}">
      <dsp:nvSpPr>
        <dsp:cNvPr id="0" name=""/>
        <dsp:cNvSpPr/>
      </dsp:nvSpPr>
      <dsp:spPr bwMode="white">
        <a:xfrm>
          <a:off x="3232745" y="117957"/>
          <a:ext cx="2938860" cy="176331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ctr" defTabSz="2311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b="0" i="0" kern="1200"/>
            <a:t>Moeez </a:t>
          </a:r>
          <a:endParaRPr lang="en-US" sz="5200" kern="1200"/>
        </a:p>
      </dsp:txBody>
      <dsp:txXfrm>
        <a:off x="3232745" y="117957"/>
        <a:ext cx="2938860" cy="1763316"/>
      </dsp:txXfrm>
    </dsp:sp>
    <dsp:sp modelId="{3A2F232B-C65D-4126-AF7A-E597E33BFAB9}">
      <dsp:nvSpPr>
        <dsp:cNvPr id="0" name=""/>
        <dsp:cNvSpPr/>
      </dsp:nvSpPr>
      <dsp:spPr bwMode="white">
        <a:xfrm>
          <a:off x="6465492" y="117957"/>
          <a:ext cx="2938860" cy="176331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ctr" defTabSz="2311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b="0" i="0" kern="1200"/>
            <a:t>Noman</a:t>
          </a:r>
          <a:endParaRPr lang="en-US" sz="5200" kern="1200"/>
        </a:p>
      </dsp:txBody>
      <dsp:txXfrm>
        <a:off x="6465492" y="117957"/>
        <a:ext cx="2938860" cy="1763316"/>
      </dsp:txXfrm>
    </dsp:sp>
    <dsp:sp modelId="{8285344F-218E-4182-8F1A-1C7A0DEDF923}">
      <dsp:nvSpPr>
        <dsp:cNvPr id="0" name=""/>
        <dsp:cNvSpPr/>
      </dsp:nvSpPr>
      <dsp:spPr bwMode="white">
        <a:xfrm>
          <a:off x="1616373" y="2175159"/>
          <a:ext cx="2938860" cy="176331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ctr" defTabSz="2311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Sharjeel</a:t>
          </a:r>
        </a:p>
      </dsp:txBody>
      <dsp:txXfrm>
        <a:off x="1616373" y="2175159"/>
        <a:ext cx="2938860" cy="1763316"/>
      </dsp:txXfrm>
    </dsp:sp>
    <dsp:sp modelId="{69E0558B-4CF2-4A7C-8271-C4416BE6D469}">
      <dsp:nvSpPr>
        <dsp:cNvPr id="0" name=""/>
        <dsp:cNvSpPr/>
      </dsp:nvSpPr>
      <dsp:spPr bwMode="white">
        <a:xfrm>
          <a:off x="4849119" y="2175160"/>
          <a:ext cx="2938860" cy="176331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ctr" defTabSz="2311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sz="5200" kern="1200">
              <a:sym typeface="+mn-ea"/>
            </a:rPr>
            <a:t>Z</a:t>
          </a:r>
          <a:r>
            <a:rPr lang="en-US" sz="5200" kern="1200">
              <a:sym typeface="+mn-ea"/>
            </a:rPr>
            <a:t>ain </a:t>
          </a:r>
          <a:endParaRPr lang="en-US" sz="5200" kern="1200"/>
        </a:p>
      </dsp:txBody>
      <dsp:txXfrm>
        <a:off x="4849119" y="2175160"/>
        <a:ext cx="2938860" cy="17633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46833F-BB85-4FD0-A857-A4E9AEB786C2}">
      <dsp:nvSpPr>
        <dsp:cNvPr id="0" name=""/>
        <dsp:cNvSpPr/>
      </dsp:nvSpPr>
      <dsp:spPr>
        <a:xfrm>
          <a:off x="851" y="0"/>
          <a:ext cx="3447363" cy="3404277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0523" tIns="0" rIns="340523" bIns="330200" numCol="1" spcCol="127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entury Gothic"/>
            </a:rPr>
            <a:t>Mujeeb's points </a:t>
          </a:r>
          <a:r>
            <a:rPr lang="en-US" sz="1800" kern="1200" dirty="0"/>
            <a:t>showed the frustration and lack of trust of </a:t>
          </a:r>
          <a:r>
            <a:rPr lang="en-US" sz="1800" kern="1200" dirty="0">
              <a:latin typeface="Century Gothic"/>
            </a:rPr>
            <a:t>Bengali</a:t>
          </a:r>
          <a:r>
            <a:rPr lang="en-US" sz="1800" kern="1200" dirty="0"/>
            <a:t> people over </a:t>
          </a:r>
          <a:r>
            <a:rPr lang="en-US" sz="1800" kern="1200" dirty="0">
              <a:latin typeface="Century Gothic"/>
            </a:rPr>
            <a:t>West</a:t>
          </a:r>
          <a:r>
            <a:rPr lang="en-US" sz="1800" kern="1200" dirty="0"/>
            <a:t> </a:t>
          </a:r>
          <a:r>
            <a:rPr lang="en-US" sz="1800" kern="1200" dirty="0">
              <a:latin typeface="Century Gothic"/>
            </a:rPr>
            <a:t>Pakistan</a:t>
          </a:r>
          <a:r>
            <a:rPr lang="en-US" sz="1800" kern="1200" dirty="0"/>
            <a:t>.</a:t>
          </a:r>
        </a:p>
      </dsp:txBody>
      <dsp:txXfrm>
        <a:off x="851" y="1361710"/>
        <a:ext cx="3447363" cy="2042566"/>
      </dsp:txXfrm>
    </dsp:sp>
    <dsp:sp modelId="{F6DEBFD7-57C7-45EA-8686-99B1B0A622F7}">
      <dsp:nvSpPr>
        <dsp:cNvPr id="0" name=""/>
        <dsp:cNvSpPr/>
      </dsp:nvSpPr>
      <dsp:spPr>
        <a:xfrm>
          <a:off x="851" y="0"/>
          <a:ext cx="3447363" cy="1361710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0523" tIns="165100" rIns="340523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851" y="0"/>
        <a:ext cx="3447363" cy="1361710"/>
      </dsp:txXfrm>
    </dsp:sp>
    <dsp:sp modelId="{B12F9623-1152-4064-9C5A-02A51726856D}">
      <dsp:nvSpPr>
        <dsp:cNvPr id="0" name=""/>
        <dsp:cNvSpPr/>
      </dsp:nvSpPr>
      <dsp:spPr>
        <a:xfrm>
          <a:off x="3724003" y="0"/>
          <a:ext cx="3447363" cy="3404277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0523" tIns="0" rIns="340523" bIns="330200" numCol="1" spcCol="127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entury Gothic"/>
            </a:rPr>
            <a:t>Imposition</a:t>
          </a:r>
          <a:r>
            <a:rPr lang="en-US" sz="1800" kern="1200" dirty="0"/>
            <a:t> of </a:t>
          </a:r>
          <a:r>
            <a:rPr lang="en-US" sz="1800" kern="1200" dirty="0">
              <a:latin typeface="Century Gothic"/>
            </a:rPr>
            <a:t>Urdu</a:t>
          </a:r>
          <a:r>
            <a:rPr lang="en-US" sz="1800" kern="1200" dirty="0"/>
            <a:t>,</a:t>
          </a:r>
          <a:r>
            <a:rPr lang="en-US" sz="1800" kern="1200" dirty="0">
              <a:latin typeface="Century Gothic"/>
            </a:rPr>
            <a:t> exploitation of</a:t>
          </a:r>
          <a:r>
            <a:rPr lang="en-US" sz="1800" kern="1200" dirty="0"/>
            <a:t> resources by </a:t>
          </a:r>
          <a:r>
            <a:rPr lang="en-US" sz="1800" kern="1200" dirty="0">
              <a:latin typeface="Century Gothic"/>
            </a:rPr>
            <a:t>West</a:t>
          </a:r>
          <a:r>
            <a:rPr lang="en-US" sz="1800" kern="1200" dirty="0"/>
            <a:t> </a:t>
          </a:r>
          <a:r>
            <a:rPr lang="en-US" sz="1800" kern="1200" dirty="0">
              <a:latin typeface="Century Gothic"/>
            </a:rPr>
            <a:t>Pakistan and lack</a:t>
          </a:r>
          <a:r>
            <a:rPr lang="en-US" sz="1800" kern="1200" dirty="0"/>
            <a:t> of provincial </a:t>
          </a:r>
          <a:r>
            <a:rPr lang="en-US" sz="1800" kern="1200" dirty="0">
              <a:latin typeface="Century Gothic"/>
            </a:rPr>
            <a:t>autonomy led</a:t>
          </a:r>
          <a:r>
            <a:rPr lang="en-US" sz="1800" kern="1200" dirty="0"/>
            <a:t> </a:t>
          </a:r>
          <a:r>
            <a:rPr lang="en-US" sz="1800" kern="1200" dirty="0">
              <a:latin typeface="Century Gothic"/>
            </a:rPr>
            <a:t>East</a:t>
          </a:r>
          <a:r>
            <a:rPr lang="en-US" sz="1800" kern="1200" dirty="0"/>
            <a:t> </a:t>
          </a:r>
          <a:r>
            <a:rPr lang="en-US" sz="1800" kern="1200" dirty="0">
              <a:latin typeface="Century Gothic"/>
            </a:rPr>
            <a:t>Pakistan</a:t>
          </a:r>
          <a:r>
            <a:rPr lang="en-US" sz="1800" kern="1200" dirty="0"/>
            <a:t> to </a:t>
          </a:r>
          <a:r>
            <a:rPr lang="en-US" sz="1800" kern="1200" dirty="0">
              <a:latin typeface="Century Gothic"/>
            </a:rPr>
            <a:t>separation</a:t>
          </a:r>
          <a:r>
            <a:rPr lang="en-US" sz="1800" kern="1200" dirty="0"/>
            <a:t>.</a:t>
          </a:r>
        </a:p>
      </dsp:txBody>
      <dsp:txXfrm>
        <a:off x="3724003" y="1361710"/>
        <a:ext cx="3447363" cy="2042566"/>
      </dsp:txXfrm>
    </dsp:sp>
    <dsp:sp modelId="{020C09CF-277E-4EF0-B763-6FFCF354B4D9}">
      <dsp:nvSpPr>
        <dsp:cNvPr id="0" name=""/>
        <dsp:cNvSpPr/>
      </dsp:nvSpPr>
      <dsp:spPr>
        <a:xfrm>
          <a:off x="3724003" y="0"/>
          <a:ext cx="3447363" cy="1361710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0523" tIns="165100" rIns="340523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724003" y="0"/>
        <a:ext cx="3447363" cy="1361710"/>
      </dsp:txXfrm>
    </dsp:sp>
    <dsp:sp modelId="{C81F6158-FBA2-430B-BFE0-F57FFE2EFC15}">
      <dsp:nvSpPr>
        <dsp:cNvPr id="0" name=""/>
        <dsp:cNvSpPr/>
      </dsp:nvSpPr>
      <dsp:spPr>
        <a:xfrm>
          <a:off x="7447155" y="0"/>
          <a:ext cx="3447363" cy="3404277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0523" tIns="0" rIns="340523" bIns="330200" numCol="1" spcCol="127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If promises of </a:t>
          </a:r>
          <a:r>
            <a:rPr lang="en-US" sz="1800" kern="1200" dirty="0">
              <a:latin typeface="Century Gothic"/>
            </a:rPr>
            <a:t>Lahore</a:t>
          </a:r>
          <a:r>
            <a:rPr lang="en-US" sz="1800" kern="1200" dirty="0"/>
            <a:t> resolution were </a:t>
          </a:r>
          <a:r>
            <a:rPr lang="en-US" sz="1800" kern="1200" dirty="0">
              <a:latin typeface="Century Gothic"/>
            </a:rPr>
            <a:t>to be </a:t>
          </a:r>
          <a:r>
            <a:rPr lang="en-US" sz="1800" kern="1200" dirty="0"/>
            <a:t>realized </a:t>
          </a:r>
          <a:r>
            <a:rPr lang="en-US" sz="1800" kern="1200" dirty="0">
              <a:latin typeface="Century Gothic"/>
            </a:rPr>
            <a:t>practicality, it</a:t>
          </a:r>
          <a:r>
            <a:rPr lang="en-US" sz="1800" kern="1200" dirty="0"/>
            <a:t> could have saved </a:t>
          </a:r>
          <a:r>
            <a:rPr lang="en-US" sz="1800" kern="1200" dirty="0">
              <a:latin typeface="Century Gothic"/>
            </a:rPr>
            <a:t>Bangladesh</a:t>
          </a:r>
          <a:r>
            <a:rPr lang="en-US" sz="1800" kern="1200" dirty="0"/>
            <a:t> liberation war.</a:t>
          </a:r>
        </a:p>
      </dsp:txBody>
      <dsp:txXfrm>
        <a:off x="7447155" y="1361710"/>
        <a:ext cx="3447363" cy="2042566"/>
      </dsp:txXfrm>
    </dsp:sp>
    <dsp:sp modelId="{42ACB8E8-35AE-4EEE-B126-96467D957F12}">
      <dsp:nvSpPr>
        <dsp:cNvPr id="0" name=""/>
        <dsp:cNvSpPr/>
      </dsp:nvSpPr>
      <dsp:spPr>
        <a:xfrm>
          <a:off x="7447155" y="0"/>
          <a:ext cx="3447363" cy="1361710"/>
        </a:xfrm>
        <a:prstGeom prst="rect">
          <a:avLst/>
        </a:prstGeom>
        <a:noFill/>
        <a:ln w="19050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0523" tIns="165100" rIns="340523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447155" y="0"/>
        <a:ext cx="3447363" cy="13617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BD0980-4DB1-46E8-8ABD-713725BF3CE0}">
      <dsp:nvSpPr>
        <dsp:cNvPr id="0" name=""/>
        <dsp:cNvSpPr/>
      </dsp:nvSpPr>
      <dsp:spPr>
        <a:xfrm>
          <a:off x="0" y="0"/>
          <a:ext cx="5601989" cy="187332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Century Gothic"/>
            </a:rPr>
            <a:t>The</a:t>
          </a:r>
          <a:r>
            <a:rPr lang="en-US" sz="1600" kern="1200" dirty="0"/>
            <a:t> province became a frontline during the </a:t>
          </a:r>
          <a:r>
            <a:rPr lang="en-US" sz="1600" b="1" kern="1200" dirty="0"/>
            <a:t>Soviet-Afghan War</a:t>
          </a:r>
          <a:r>
            <a:rPr lang="en-US" sz="1600" kern="1200" dirty="0"/>
            <a:t> and later the</a:t>
          </a:r>
          <a:r>
            <a:rPr lang="en-US" sz="1600" b="1" kern="1200" dirty="0"/>
            <a:t> War on Terror</a:t>
          </a:r>
          <a:r>
            <a:rPr lang="en-US" sz="1600" kern="1200" dirty="0"/>
            <a:t>, bringing instability, terrorism, and economic damage.</a:t>
          </a: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Char char="•"/>
          </a:pPr>
          <a:endParaRPr lang="en-US" altLang="en-US" sz="1600" kern="1200" dirty="0"/>
        </a:p>
      </dsp:txBody>
      <dsp:txXfrm>
        <a:off x="54868" y="54868"/>
        <a:ext cx="3665757" cy="1763592"/>
      </dsp:txXfrm>
    </dsp:sp>
    <dsp:sp modelId="{8693E242-3BA8-4337-9B7D-872B9099D69B}">
      <dsp:nvSpPr>
        <dsp:cNvPr id="0" name=""/>
        <dsp:cNvSpPr/>
      </dsp:nvSpPr>
      <dsp:spPr>
        <a:xfrm>
          <a:off x="988586" y="2289624"/>
          <a:ext cx="5601989" cy="187332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KPK produced significant hydropower, but profits were retained by the federal government, leaving the province underfunded for local development.</a:t>
          </a:r>
          <a:endParaRPr sz="1700" kern="1200" dirty="0"/>
        </a:p>
      </dsp:txBody>
      <dsp:txXfrm>
        <a:off x="1043454" y="2344492"/>
        <a:ext cx="3286003" cy="1763592"/>
      </dsp:txXfrm>
    </dsp:sp>
    <dsp:sp modelId="{DD309278-B1D3-4BD1-80A8-59D8696D5A52}">
      <dsp:nvSpPr>
        <dsp:cNvPr id="0" name=""/>
        <dsp:cNvSpPr/>
      </dsp:nvSpPr>
      <dsp:spPr>
        <a:xfrm>
          <a:off x="4384325" y="1472644"/>
          <a:ext cx="1217663" cy="1217663"/>
        </a:xfrm>
        <a:prstGeom prst="downArrow">
          <a:avLst>
            <a:gd name="adj1" fmla="val 55000"/>
            <a:gd name="adj2" fmla="val 45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4658299" y="1472644"/>
        <a:ext cx="669715" cy="91629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8035B1-E65F-4EF3-AAEB-7B2CCB6F23E5}">
      <dsp:nvSpPr>
        <dsp:cNvPr id="0" name=""/>
        <dsp:cNvSpPr/>
      </dsp:nvSpPr>
      <dsp:spPr bwMode="white">
        <a:xfrm>
          <a:off x="0" y="8209"/>
          <a:ext cx="9510395" cy="101703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Ethnic and regional disputes delayed the adoption of the first constitution until </a:t>
          </a:r>
          <a:r>
            <a:rPr lang="en-US" sz="1700" b="1" kern="1200" dirty="0"/>
            <a:t>1956</a:t>
          </a:r>
          <a:r>
            <a:rPr lang="en-US" sz="1700" kern="1200" dirty="0"/>
            <a:t>, reflecting political instability.</a:t>
          </a:r>
        </a:p>
      </dsp:txBody>
      <dsp:txXfrm>
        <a:off x="49647" y="57856"/>
        <a:ext cx="9411101" cy="917737"/>
      </dsp:txXfrm>
    </dsp:sp>
    <dsp:sp modelId="{776577D8-0A58-4672-A9BF-FC1E2B6E2EB1}">
      <dsp:nvSpPr>
        <dsp:cNvPr id="0" name=""/>
        <dsp:cNvSpPr/>
      </dsp:nvSpPr>
      <dsp:spPr bwMode="white">
        <a:xfrm>
          <a:off x="0" y="1074200"/>
          <a:ext cx="9510395" cy="101703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Ayub Khan introduced the </a:t>
          </a:r>
          <a:r>
            <a:rPr lang="en-US" sz="1700" b="1" kern="1200" dirty="0"/>
            <a:t>1962 Constitution</a:t>
          </a:r>
          <a:r>
            <a:rPr lang="en-US" sz="1700" kern="1200" dirty="0"/>
            <a:t>, which centralized power in the presidency and sidelined provinces.</a:t>
          </a:r>
        </a:p>
      </dsp:txBody>
      <dsp:txXfrm>
        <a:off x="49647" y="1123847"/>
        <a:ext cx="9411101" cy="917737"/>
      </dsp:txXfrm>
    </dsp:sp>
    <dsp:sp modelId="{FF3DCAB4-7EC6-448A-A6B5-31CB775154EE}">
      <dsp:nvSpPr>
        <dsp:cNvPr id="0" name=""/>
        <dsp:cNvSpPr/>
      </dsp:nvSpPr>
      <dsp:spPr bwMode="white">
        <a:xfrm>
          <a:off x="0" y="2140192"/>
          <a:ext cx="9510395" cy="101703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Economic disparities and political marginalization of East Pakistan fueled unrest, culminating in </a:t>
          </a:r>
          <a:r>
            <a:rPr lang="en-US" sz="1700" b="1" kern="1200" dirty="0"/>
            <a:t>Mujib’s Six Points (1966)</a:t>
          </a:r>
          <a:r>
            <a:rPr lang="en-US" sz="1700" kern="1200" dirty="0"/>
            <a:t>.</a:t>
          </a:r>
          <a:endParaRPr sz="1700" kern="1200"/>
        </a:p>
      </dsp:txBody>
      <dsp:txXfrm>
        <a:off x="49647" y="2189839"/>
        <a:ext cx="9411101" cy="917737"/>
      </dsp:txXfrm>
    </dsp:sp>
    <dsp:sp modelId="{464E1473-F8AF-42FB-8F36-8F176CFC3173}">
      <dsp:nvSpPr>
        <dsp:cNvPr id="0" name=""/>
        <dsp:cNvSpPr/>
      </dsp:nvSpPr>
      <dsp:spPr bwMode="white">
        <a:xfrm>
          <a:off x="0" y="3206184"/>
          <a:ext cx="9510395" cy="101703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700" kern="1200">
              <a:sym typeface="+mn-ea"/>
            </a:rPr>
            <a:t>T</a:t>
          </a:r>
          <a:r>
            <a:rPr lang="en-US" sz="1700" kern="1200" dirty="0">
              <a:solidFill>
                <a:schemeClr val="tx1"/>
              </a:solidFill>
              <a:sym typeface="+mn-ea"/>
            </a:rPr>
            <a:t>he </a:t>
          </a:r>
          <a:r>
            <a:rPr sz="1700" kern="1200">
              <a:sym typeface="+mn-ea"/>
            </a:rPr>
            <a:t>B</a:t>
          </a:r>
          <a:r>
            <a:rPr lang="en-US" sz="1700" b="1" kern="1200" dirty="0">
              <a:solidFill>
                <a:schemeClr val="tx1"/>
              </a:solidFill>
              <a:sym typeface="+mn-ea"/>
            </a:rPr>
            <a:t>angladesh</a:t>
          </a:r>
          <a:r>
            <a:rPr sz="1700" kern="1200">
              <a:sym typeface="+mn-ea"/>
            </a:rPr>
            <a:t> </a:t>
          </a:r>
          <a:r>
            <a:rPr lang="en-US" sz="1700" b="1" kern="1200" dirty="0">
              <a:solidFill>
                <a:schemeClr val="tx1"/>
              </a:solidFill>
              <a:latin typeface="Century Gothic" panose="020B0502020202020204"/>
              <a:sym typeface="+mn-ea"/>
            </a:rPr>
            <a:t>freedom</a:t>
          </a:r>
          <a:r>
            <a:rPr sz="1700" kern="1200">
              <a:sym typeface="+mn-ea"/>
            </a:rPr>
            <a:t> </a:t>
          </a:r>
          <a:r>
            <a:rPr lang="en-US" sz="1700" b="1" kern="1200" dirty="0">
              <a:solidFill>
                <a:schemeClr val="tx1"/>
              </a:solidFill>
              <a:sym typeface="+mn-ea"/>
            </a:rPr>
            <a:t>War</a:t>
          </a:r>
          <a:r>
            <a:rPr sz="1700" kern="1200">
              <a:sym typeface="+mn-ea"/>
            </a:rPr>
            <a:t> </a:t>
          </a:r>
          <a:r>
            <a:rPr lang="en-US" sz="1700" kern="1200" dirty="0">
              <a:solidFill>
                <a:schemeClr val="tx1"/>
              </a:solidFill>
              <a:sym typeface="+mn-ea"/>
            </a:rPr>
            <a:t>occurred after the federal government refused to transfer power to Mujib</a:t>
          </a:r>
          <a:r>
            <a:rPr sz="1700" kern="1200">
              <a:sym typeface="+mn-ea"/>
            </a:rPr>
            <a:t> </a:t>
          </a:r>
          <a:r>
            <a:rPr lang="en-US" sz="1700" kern="1200" dirty="0">
              <a:solidFill>
                <a:schemeClr val="tx1"/>
              </a:solidFill>
              <a:sym typeface="+mn-ea"/>
            </a:rPr>
            <a:t>and Co.</a:t>
          </a:r>
          <a:r>
            <a:rPr sz="1700" kern="1200">
              <a:sym typeface="+mn-ea"/>
            </a:rPr>
            <a:t> </a:t>
          </a:r>
          <a:r>
            <a:rPr lang="en-US" sz="1700" kern="1200" dirty="0">
              <a:solidFill>
                <a:schemeClr val="tx1"/>
              </a:solidFill>
              <a:latin typeface="Century Gothic" panose="020B0502020202020204"/>
              <a:sym typeface="+mn-ea"/>
            </a:rPr>
            <a:t>after </a:t>
          </a:r>
          <a:r>
            <a:rPr sz="1700" kern="1200">
              <a:sym typeface="+mn-ea"/>
            </a:rPr>
            <a:t>t</a:t>
          </a:r>
          <a:r>
            <a:rPr lang="en-US" sz="1700" kern="1200" dirty="0">
              <a:solidFill>
                <a:schemeClr val="tx1"/>
              </a:solidFill>
              <a:sym typeface="+mn-ea"/>
            </a:rPr>
            <a:t>he </a:t>
          </a:r>
          <a:r>
            <a:rPr sz="1700" kern="1200">
              <a:sym typeface="+mn-ea"/>
            </a:rPr>
            <a:t>1</a:t>
          </a:r>
          <a:r>
            <a:rPr lang="en-US" sz="1700" b="1" kern="1200" dirty="0">
              <a:solidFill>
                <a:schemeClr val="tx1"/>
              </a:solidFill>
              <a:sym typeface="+mn-ea"/>
            </a:rPr>
            <a:t>970 elections</a:t>
          </a:r>
          <a:r>
            <a:rPr sz="1700" kern="1200">
              <a:sym typeface="+mn-ea"/>
            </a:rPr>
            <a:t>,</a:t>
          </a:r>
          <a:r>
            <a:rPr lang="en-US" sz="1700" kern="1200" dirty="0">
              <a:solidFill>
                <a:schemeClr val="tx1"/>
              </a:solidFill>
              <a:sym typeface="+mn-ea"/>
            </a:rPr>
            <a:t> leading to East Pakistan's secession and the creation of Bangladesh.</a:t>
          </a:r>
          <a:endParaRPr lang="en-US" sz="1700" kern="1200" dirty="0">
            <a:solidFill>
              <a:schemeClr val="tx1"/>
            </a:solidFill>
          </a:endParaRPr>
        </a:p>
      </dsp:txBody>
      <dsp:txXfrm>
        <a:off x="49647" y="3255831"/>
        <a:ext cx="9411101" cy="917737"/>
      </dsp:txXfrm>
    </dsp:sp>
    <dsp:sp modelId="{1D54B836-9178-48F1-B501-2209610340F1}">
      <dsp:nvSpPr>
        <dsp:cNvPr id="0" name=""/>
        <dsp:cNvSpPr/>
      </dsp:nvSpPr>
      <dsp:spPr bwMode="white">
        <a:xfrm>
          <a:off x="0" y="4223215"/>
          <a:ext cx="9510395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1955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endParaRPr sz="1300" kern="1200"/>
        </a:p>
      </dsp:txBody>
      <dsp:txXfrm>
        <a:off x="0" y="4223215"/>
        <a:ext cx="9510395" cy="2815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off" val="ctr"/>
          <dgm:param type="contDir" val="sameDir"/>
          <dgm:param type="grDir" val="tL"/>
          <dgm:param type="flowDir" val="row"/>
        </dgm:alg>
      </dgm:if>
      <dgm:else name="Name2">
        <dgm:alg type="snake">
          <dgm:param type="off" val="ctr"/>
          <dgm:param type="contDir" val="sameDir"/>
          <dgm:param type="grDir" val="tR"/>
          <dgm:param type="flowDir" val="row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rPr/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rPr/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rPr/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stBulletLvl" val="2"/>
            <dgm:param type="txAnchorVert" val="t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#1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1/15/2025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1/15/2025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1/15/2025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1/15/2025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1/15/2025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>
            <a:fillRect/>
          </a:stretch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>
            <a:fillRect/>
          </a:stretch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>
            <a:fillRect/>
          </a:stretch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>
            <a:fillRect/>
          </a:stretch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571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8405" y="2426335"/>
            <a:ext cx="9404985" cy="2355215"/>
          </a:xfrm>
          <a:noFill/>
        </p:spPr>
        <p:txBody>
          <a:bodyPr/>
          <a:lstStyle/>
          <a:p>
            <a:pPr algn="ctr"/>
            <a:r>
              <a:rPr lang="en-US" sz="8800" dirty="0"/>
              <a:t>18th A</a:t>
            </a:r>
            <a:r>
              <a:rPr lang="en-US" sz="8800" dirty="0" err="1"/>
              <a:t>mendment</a:t>
            </a:r>
            <a:br>
              <a:rPr lang="en-US" sz="8800" dirty="0"/>
            </a:br>
            <a:r>
              <a:rPr lang="en-US" sz="8800" dirty="0"/>
              <a:t> 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653378"/>
            <a:ext cx="9404723" cy="1400530"/>
          </a:xfrm>
        </p:spPr>
        <p:txBody>
          <a:bodyPr>
            <a:normAutofit/>
          </a:bodyPr>
          <a:lstStyle/>
          <a:p>
            <a:r>
              <a:rPr lang="en-US"/>
              <a:t>Presented by</a:t>
            </a:r>
          </a:p>
        </p:txBody>
      </p:sp>
      <p:graphicFrame>
        <p:nvGraphicFramePr>
          <p:cNvPr id="46" name="Content Placeholder 2"/>
          <p:cNvGraphicFramePr>
            <a:graphicFrameLocks noGrp="1"/>
          </p:cNvGraphicFramePr>
          <p:nvPr>
            <p:ph idx="1"/>
          </p:nvPr>
        </p:nvGraphicFramePr>
        <p:xfrm>
          <a:off x="1333181" y="1831475"/>
          <a:ext cx="9404352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264920" y="2040255"/>
            <a:ext cx="9437370" cy="2115820"/>
          </a:xfrm>
        </p:spPr>
        <p:txBody>
          <a:bodyPr/>
          <a:lstStyle/>
          <a:p>
            <a:r>
              <a:rPr lang="en-US" sz="6600" dirty="0">
                <a:sym typeface="+mn-ea"/>
              </a:rPr>
              <a:t>Historical Background</a:t>
            </a:r>
            <a:endParaRPr lang="en-US" sz="66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026" y="828890"/>
            <a:ext cx="9404723" cy="1233516"/>
          </a:xfrm>
        </p:spPr>
        <p:txBody>
          <a:bodyPr/>
          <a:lstStyle/>
          <a:p>
            <a:r>
              <a:rPr lang="en-US" b="1" dirty="0">
                <a:sym typeface="+mn-ea"/>
              </a:rPr>
              <a:t>Lahore resolution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1299" y="2157609"/>
            <a:ext cx="9617359" cy="381939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400" b="1" u="sng" dirty="0">
              <a:solidFill>
                <a:schemeClr val="tx2"/>
              </a:solidFill>
            </a:endParaRPr>
          </a:p>
          <a:p>
            <a:pPr marL="0" indent="0">
              <a:lnSpc>
                <a:spcPct val="110000"/>
              </a:lnSpc>
              <a:buClr>
                <a:srgbClr val="8AD0D6"/>
              </a:buClr>
              <a:buNone/>
            </a:pPr>
            <a:r>
              <a:rPr lang="en-US" sz="2400" dirty="0"/>
              <a:t>This resolution emphasized on </a:t>
            </a:r>
            <a:r>
              <a:rPr lang="en-US" sz="2400" b="1" dirty="0"/>
              <a:t>self-governance in ‘autonomous units’</a:t>
            </a:r>
            <a:r>
              <a:rPr lang="en-US" sz="2400" dirty="0"/>
              <a:t>, ensuring that these units could independently manage their political, economical and cultural affairs.</a:t>
            </a:r>
          </a:p>
          <a:p>
            <a:pPr marL="0" indent="0">
              <a:buClr>
                <a:srgbClr val="8AD0D6"/>
              </a:buClr>
              <a:buFont typeface="Arial" panose="020B0604020202020204" charset="2"/>
              <a:buNone/>
            </a:pP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3" name="Rectangle 6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4" name="Freeform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65" name="Freeform: Shape 6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Issues in East Pakistan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603500"/>
            <a:ext cx="8946541" cy="392190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800" b="1" u="sng" dirty="0"/>
              <a:t>Economic disparities and political exclusion:</a:t>
            </a:r>
            <a:endParaRPr lang="en-US" sz="1800" dirty="0"/>
          </a:p>
          <a:p>
            <a:pPr>
              <a:lnSpc>
                <a:spcPct val="90000"/>
              </a:lnSpc>
              <a:buFont typeface="Arial" panose="020B0604020202020204" charset="2"/>
              <a:buChar char="•"/>
            </a:pPr>
            <a:r>
              <a:rPr lang="en-US" sz="1800" dirty="0"/>
              <a:t>East Pakistan received a relatively small amount of budget for development despite contributing 60% in country's revenue among many more.</a:t>
            </a:r>
          </a:p>
          <a:p>
            <a:pPr marL="0" indent="0">
              <a:lnSpc>
                <a:spcPct val="90000"/>
              </a:lnSpc>
              <a:buClr>
                <a:srgbClr val="8AD0D6"/>
              </a:buClr>
              <a:buNone/>
            </a:pPr>
            <a:r>
              <a:rPr lang="en-US" sz="1800" dirty="0"/>
              <a:t>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 </a:t>
            </a:r>
            <a:r>
              <a:rPr lang="en-US" sz="1800" b="1" u="sng" dirty="0"/>
              <a:t>Shiekh Mujeeb’s key points on autonomy:</a:t>
            </a:r>
            <a:endParaRPr lang="en-US" sz="1800" dirty="0"/>
          </a:p>
          <a:p>
            <a:pPr>
              <a:lnSpc>
                <a:spcPct val="90000"/>
              </a:lnSpc>
              <a:buClr>
                <a:srgbClr val="1E5155">
                  <a:lumMod val="40000"/>
                  <a:lumOff val="60000"/>
                </a:srgbClr>
              </a:buClr>
              <a:buFont typeface="Arial" panose="020B0604020202020204" charset="2"/>
              <a:buChar char="•"/>
            </a:pPr>
            <a:r>
              <a:rPr lang="en-US" sz="1800" dirty="0">
                <a:cs typeface="+mj-lt"/>
              </a:rPr>
              <a:t>Proposed a federal system of government.</a:t>
            </a:r>
          </a:p>
          <a:p>
            <a:pPr>
              <a:lnSpc>
                <a:spcPct val="90000"/>
              </a:lnSpc>
              <a:buClr>
                <a:srgbClr val="8AD0D6"/>
              </a:buClr>
              <a:buFont typeface="Arial" panose="020B0604020202020204" charset="2"/>
              <a:buChar char="•"/>
            </a:pPr>
            <a:r>
              <a:rPr lang="en-US" sz="1800" dirty="0">
                <a:cs typeface="+mj-lt"/>
              </a:rPr>
              <a:t>Provinces should have control over its own trade and foreign reserves.</a:t>
            </a:r>
          </a:p>
          <a:p>
            <a:pPr>
              <a:lnSpc>
                <a:spcPct val="90000"/>
              </a:lnSpc>
              <a:buClr>
                <a:srgbClr val="8AD0D6"/>
              </a:buClr>
              <a:buFont typeface="Arial" panose="020B0604020202020204" charset="2"/>
              <a:buChar char="•"/>
            </a:pPr>
            <a:r>
              <a:rPr lang="en-US" altLang="en-US" sz="1800" dirty="0">
                <a:cs typeface="+mj-lt"/>
              </a:rPr>
              <a:t>The power of taxation and revenue collection should be vested in the federating units and the federal centre would have no such power</a:t>
            </a:r>
            <a:r>
              <a:rPr lang="en-US" altLang="en-US" sz="1800" b="1" dirty="0">
                <a:cs typeface="+mj-lt"/>
              </a:rPr>
              <a:t>.</a:t>
            </a:r>
          </a:p>
          <a:p>
            <a:pPr>
              <a:lnSpc>
                <a:spcPct val="90000"/>
              </a:lnSpc>
              <a:buClr>
                <a:srgbClr val="8AD0D6"/>
              </a:buClr>
              <a:buFont typeface="Arial" panose="020B0604020202020204" charset="2"/>
              <a:buChar char="•"/>
            </a:pPr>
            <a:endParaRPr lang="en-US" sz="1800" dirty="0">
              <a:latin typeface="Aptos"/>
            </a:endParaRPr>
          </a:p>
          <a:p>
            <a:pPr>
              <a:lnSpc>
                <a:spcPct val="90000"/>
              </a:lnSpc>
              <a:buClr>
                <a:srgbClr val="8AD0D6"/>
              </a:buClr>
              <a:buFont typeface="Arial" panose="020B0604020202020204" charset="2"/>
              <a:buChar char="•"/>
            </a:pPr>
            <a:endParaRPr lang="en-US" sz="1800" dirty="0">
              <a:latin typeface="Aptos"/>
            </a:endParaRPr>
          </a:p>
          <a:p>
            <a:pPr>
              <a:lnSpc>
                <a:spcPct val="90000"/>
              </a:lnSpc>
              <a:buClr>
                <a:srgbClr val="8AD0D6"/>
              </a:buClr>
              <a:buFont typeface="Arial" panose="020B0604020202020204" charset="2"/>
              <a:buChar char="•"/>
            </a:pPr>
            <a:endParaRPr lang="en-US" sz="1600">
              <a:latin typeface="Aptos"/>
            </a:endParaRPr>
          </a:p>
          <a:p>
            <a:pPr>
              <a:lnSpc>
                <a:spcPct val="90000"/>
              </a:lnSpc>
              <a:buClr>
                <a:srgbClr val="8AD0D6"/>
              </a:buClr>
              <a:buFont typeface="Arial" panose="020B0604020202020204" charset="2"/>
              <a:buChar char="•"/>
            </a:pPr>
            <a:endParaRPr lang="en-US" sz="1600">
              <a:latin typeface="Aptos"/>
            </a:endParaRPr>
          </a:p>
          <a:p>
            <a:pPr>
              <a:lnSpc>
                <a:spcPct val="90000"/>
              </a:lnSpc>
              <a:buClr>
                <a:srgbClr val="8AD0D6"/>
              </a:buClr>
              <a:buFont typeface="Arial" panose="020B0604020202020204" charset="2"/>
              <a:buChar char="•"/>
            </a:pPr>
            <a:endParaRPr lang="en-US" sz="1600"/>
          </a:p>
          <a:p>
            <a:pPr>
              <a:lnSpc>
                <a:spcPct val="90000"/>
              </a:lnSpc>
              <a:buClr>
                <a:srgbClr val="1E5155">
                  <a:lumMod val="40000"/>
                  <a:lumOff val="60000"/>
                </a:srgbClr>
              </a:buClr>
              <a:buFont typeface="Arial" panose="020B0604020202020204" charset="2"/>
              <a:buChar char="•"/>
            </a:pPr>
            <a:endParaRPr lang="en-US" sz="1600" b="1" u="sng"/>
          </a:p>
          <a:p>
            <a:pPr>
              <a:lnSpc>
                <a:spcPct val="90000"/>
              </a:lnSpc>
              <a:buClr>
                <a:srgbClr val="8AD0D6"/>
              </a:buClr>
              <a:buFont typeface="Arial" panose="020B0604020202020204" charset="2"/>
              <a:buChar char="•"/>
            </a:pPr>
            <a:endParaRPr lang="en-US" sz="1600" b="1" u="sng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636" y="573238"/>
            <a:ext cx="9252154" cy="1016654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4000" dirty="0">
                <a:solidFill>
                  <a:srgbClr val="EBEBEB"/>
                </a:solidFill>
              </a:rPr>
              <a:t>Separation</a:t>
            </a:r>
            <a:br>
              <a:rPr lang="en-US" sz="2400" dirty="0"/>
            </a:br>
            <a:br>
              <a:rPr lang="en-US" sz="2400" dirty="0"/>
            </a:br>
            <a:endParaRPr lang="en-US" sz="2400" dirty="0">
              <a:solidFill>
                <a:srgbClr val="EBEBEB"/>
              </a:solidFill>
            </a:endParaRPr>
          </a:p>
        </p:txBody>
      </p:sp>
      <p:sp>
        <p:nvSpPr>
          <p:cNvPr id="38" name="Rectangle 3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9" name="Freeform: Shape 3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563205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7" name="Freeform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930" y="443847"/>
            <a:ext cx="9252154" cy="101665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BEBEB"/>
                </a:solidFill>
              </a:rPr>
              <a:t>Balochistan</a:t>
            </a:r>
          </a:p>
        </p:txBody>
      </p:sp>
      <p:sp useBgFill="1">
        <p:nvSpPr>
          <p:cNvPr id="68" name="Freeform: Shape 6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sp>
        <p:nvSpPr>
          <p:cNvPr id="23" name="Content Placeholder 2"/>
          <p:cNvSpPr>
            <a:spLocks noGrp="1"/>
          </p:cNvSpPr>
          <p:nvPr>
            <p:ph idx="1"/>
          </p:nvPr>
        </p:nvSpPr>
        <p:spPr>
          <a:xfrm>
            <a:off x="255345" y="2824966"/>
            <a:ext cx="7670090" cy="317817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buClr>
                <a:srgbClr val="000000"/>
              </a:buClr>
              <a:buSzPct val="100000"/>
              <a:buFont typeface="Wingdings" panose="05000000000000000000" charset="0"/>
              <a:buChar char="v"/>
            </a:pPr>
            <a:r>
              <a:rPr lang="en-US" sz="2200" dirty="0">
                <a:cs typeface="+mj-lt"/>
              </a:rPr>
              <a:t>Despite contributing significantly to Pakistan's </a:t>
            </a:r>
            <a:r>
              <a:rPr lang="en-US" sz="2200" b="1" u="sng" dirty="0">
                <a:cs typeface="+mj-lt"/>
              </a:rPr>
              <a:t>natural gas supply</a:t>
            </a:r>
            <a:r>
              <a:rPr lang="en-US" sz="2200" b="1" dirty="0">
                <a:cs typeface="+mj-lt"/>
              </a:rPr>
              <a:t>, </a:t>
            </a:r>
            <a:r>
              <a:rPr lang="en-US" sz="2200" dirty="0">
                <a:cs typeface="+mj-lt"/>
              </a:rPr>
              <a:t>Balochistan received minimal economic royalties.</a:t>
            </a:r>
          </a:p>
          <a:p>
            <a:pPr>
              <a:lnSpc>
                <a:spcPct val="90000"/>
              </a:lnSpc>
              <a:buClr>
                <a:srgbClr val="000000"/>
              </a:buClr>
              <a:buSzPct val="100000"/>
              <a:buFont typeface="Wingdings" panose="05000000000000000000" charset="0"/>
              <a:buChar char="v"/>
            </a:pPr>
            <a:r>
              <a:rPr lang="en-US" sz="2200" dirty="0">
                <a:cs typeface="+mj-lt"/>
              </a:rPr>
              <a:t>Balochistan has experienced five major </a:t>
            </a:r>
            <a:r>
              <a:rPr lang="en-US" sz="2200" b="1" u="sng" dirty="0">
                <a:cs typeface="+mj-lt"/>
              </a:rPr>
              <a:t>insurgencies</a:t>
            </a:r>
            <a:r>
              <a:rPr lang="en-US" sz="2200" dirty="0">
                <a:cs typeface="+mj-lt"/>
              </a:rPr>
              <a:t>(1948, 1958, 1963, 1973, and post-2000s) due to grievances over exploitation, lack of autonomy, and heavy-handed federal control</a:t>
            </a:r>
            <a:r>
              <a:rPr lang="en-US" dirty="0">
                <a:cs typeface="+mj-lt"/>
              </a:rPr>
              <a:t>.</a:t>
            </a:r>
            <a:endParaRPr lang="en-US"/>
          </a:p>
          <a:p>
            <a:pPr marL="0" indent="0">
              <a:lnSpc>
                <a:spcPct val="90000"/>
              </a:lnSpc>
              <a:buNone/>
            </a:pPr>
            <a:endParaRPr lang="en-US" sz="1800" dirty="0">
              <a:cs typeface="+mj-lt"/>
            </a:endParaRPr>
          </a:p>
        </p:txBody>
      </p:sp>
      <p:pic>
        <p:nvPicPr>
          <p:cNvPr id="3" name="Picture 2" descr="A person holding an object&#10;&#10;Description automatically generated">
            <a:extLst>
              <a:ext uri="{FF2B5EF4-FFF2-40B4-BE49-F238E27FC236}">
                <a16:creationId xmlns:a16="http://schemas.microsoft.com/office/drawing/2014/main" id="{441C65EA-1E2F-786D-74F3-8F6D4F508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840" y="2380130"/>
            <a:ext cx="2978204" cy="4058771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Freeform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9685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BEBEB"/>
                </a:solidFill>
              </a:rPr>
              <a:t>KPK</a:t>
            </a:r>
          </a:p>
        </p:txBody>
      </p:sp>
      <p:sp useBgFill="1">
        <p:nvSpPr>
          <p:cNvPr id="25" name="Freeform: Shap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pic>
        <p:nvPicPr>
          <p:cNvPr id="4" name="Picture 3" descr="A group of women wearing colorful necklaces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513" y="2548603"/>
            <a:ext cx="5093039" cy="3638961"/>
          </a:xfrm>
          <a:prstGeom prst="rect">
            <a:avLst/>
          </a:prstGeom>
          <a:effectLst/>
        </p:spPr>
      </p:pic>
      <p:graphicFrame>
        <p:nvGraphicFramePr>
          <p:cNvPr id="31" name="Content Placeholder 2"/>
          <p:cNvGraphicFramePr>
            <a:graphicFrameLocks noGrp="1"/>
          </p:cNvGraphicFramePr>
          <p:nvPr>
            <p:ph idx="1"/>
          </p:nvPr>
        </p:nvGraphicFramePr>
        <p:xfrm>
          <a:off x="5603060" y="2548280"/>
          <a:ext cx="6590576" cy="41629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154955" y="1327785"/>
            <a:ext cx="8825658" cy="3329581"/>
          </a:xfrm>
        </p:spPr>
        <p:txBody>
          <a:bodyPr/>
          <a:lstStyle/>
          <a:p>
            <a:r>
              <a:rPr lang="en-US"/>
              <a:t>Political c</a:t>
            </a:r>
            <a:r>
              <a:rPr lang="en-US" dirty="0">
                <a:sym typeface="+mn-ea"/>
              </a:rPr>
              <a:t>hallenges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2" name="Rectangle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Freeform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24" name="Freeform: Shape 2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gray">
          <a:xfrm>
            <a:off x="1" y="177095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Political instability from </a:t>
            </a:r>
            <a:r>
              <a:rPr lang="en-US" dirty="0" err="1">
                <a:solidFill>
                  <a:srgbClr val="FFFFFF"/>
                </a:solidFill>
              </a:rPr>
              <a:t>Quaid’s</a:t>
            </a:r>
            <a:r>
              <a:rPr lang="en-US" dirty="0">
                <a:solidFill>
                  <a:srgbClr val="FFFFFF"/>
                </a:solidFill>
              </a:rPr>
              <a:t> death onwards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729" y="2763520"/>
            <a:ext cx="8311541" cy="38552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cs typeface="+mj-lt"/>
              </a:rPr>
              <a:t>Since his death in 1948, It’s always has  been unrest in political  landscape. </a:t>
            </a:r>
            <a:endParaRPr lang="en-US">
              <a:cs typeface="+mj-lt"/>
            </a:endParaRPr>
          </a:p>
          <a:p>
            <a:pPr>
              <a:buClr>
                <a:srgbClr val="8AD0D6"/>
              </a:buClr>
              <a:buFont typeface="Arial" panose="020B0604020202020204"/>
              <a:buChar char="•"/>
            </a:pPr>
            <a:r>
              <a:rPr lang="en-US" dirty="0">
                <a:cs typeface="+mj-lt"/>
              </a:rPr>
              <a:t>The constitutional development was delayed (until 1956).</a:t>
            </a:r>
          </a:p>
          <a:p>
            <a:pPr>
              <a:buClr>
                <a:srgbClr val="8AD0D6"/>
              </a:buClr>
              <a:buFont typeface="Arial" panose="020B0604020202020204" charset="2"/>
              <a:buChar char="•"/>
            </a:pPr>
            <a:r>
              <a:rPr lang="en-US" dirty="0">
                <a:cs typeface="+mj-lt"/>
              </a:rPr>
              <a:t>Economic and political inequalities rose , especially in Balochistan, KPK and East Pakistan.</a:t>
            </a:r>
          </a:p>
          <a:p>
            <a:pPr>
              <a:buClr>
                <a:srgbClr val="8AD0D6"/>
              </a:buClr>
              <a:buFont typeface="Arial" panose="020B0604020202020204"/>
              <a:buChar char="•"/>
            </a:pPr>
            <a:r>
              <a:rPr lang="en-US" dirty="0">
                <a:cs typeface="+mj-lt"/>
              </a:rPr>
              <a:t>Military interventions</a:t>
            </a:r>
          </a:p>
          <a:p>
            <a:pPr>
              <a:buClr>
                <a:srgbClr val="8AD0D6"/>
              </a:buClr>
              <a:buFont typeface="Arial" panose="020B0604020202020204"/>
              <a:buChar char="•"/>
            </a:pPr>
            <a:endParaRPr lang="en-US">
              <a:latin typeface="Aptos"/>
            </a:endParaRPr>
          </a:p>
          <a:p>
            <a:pPr marL="0" indent="0">
              <a:buClr>
                <a:srgbClr val="8AD0D6"/>
              </a:buClr>
              <a:buNone/>
            </a:pPr>
            <a:endParaRPr lang="en-US" dirty="0">
              <a:latin typeface="Aptos"/>
            </a:endParaRPr>
          </a:p>
        </p:txBody>
      </p:sp>
      <p:pic>
        <p:nvPicPr>
          <p:cNvPr id="5" name="Picture 4" descr="8933AB7C-5E95-42C1-8F12-967FEEA6DEF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1205" y="2444115"/>
            <a:ext cx="2858770" cy="409511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>
            <a:normAutofit/>
          </a:bodyPr>
          <a:lstStyle/>
          <a:p>
            <a:r>
              <a:rPr lang="en-US">
                <a:cs typeface="+mj-lt"/>
              </a:rPr>
              <a:t>Constitutional problems and Martial laws</a:t>
            </a:r>
          </a:p>
        </p:txBody>
      </p:sp>
      <p:graphicFrame>
        <p:nvGraphicFramePr>
          <p:cNvPr id="20" name="Content Placeholder 2"/>
          <p:cNvGraphicFramePr>
            <a:graphicFrameLocks noGrp="1"/>
          </p:cNvGraphicFramePr>
          <p:nvPr>
            <p:ph idx="1"/>
          </p:nvPr>
        </p:nvGraphicFramePr>
        <p:xfrm>
          <a:off x="738505" y="2139950"/>
          <a:ext cx="9510395" cy="45129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-889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3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27" y="1709196"/>
            <a:ext cx="3522879" cy="2397733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  <a:cs typeface="+mj-lt"/>
              </a:rPr>
              <a:t>Bhutto &amp; Zia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48605" y="1507490"/>
            <a:ext cx="5967095" cy="4747260"/>
          </a:xfrm>
        </p:spPr>
        <p:txBody>
          <a:bodyPr vert="horz" lIns="91440" tIns="45720" rIns="91440" bIns="45720" rtlCol="0">
            <a:noAutofit/>
          </a:bodyPr>
          <a:lstStyle/>
          <a:p>
            <a:pPr lvl="1">
              <a:lnSpc>
                <a:spcPct val="90000"/>
              </a:lnSpc>
              <a:buClr>
                <a:srgbClr val="000000"/>
              </a:buClr>
              <a:buFont typeface="Wingdings" panose="05000000000000000000" charset="0"/>
              <a:buChar char="v"/>
            </a:pPr>
            <a:r>
              <a:rPr lang="en-US" sz="2000">
                <a:cs typeface="+mj-lt"/>
              </a:rPr>
              <a:t>Under Zulfikar Ali Bhutto, Pakistan adopted the 1973 Constitution, introducing a parliamentary system and federal structure.</a:t>
            </a:r>
          </a:p>
          <a:p>
            <a:pPr lvl="1">
              <a:lnSpc>
                <a:spcPct val="90000"/>
              </a:lnSpc>
              <a:buClr>
                <a:srgbClr val="000000"/>
              </a:buClr>
              <a:buFont typeface="Wingdings" panose="05000000000000000000" charset="0"/>
              <a:buChar char="v"/>
            </a:pPr>
            <a:endParaRPr lang="en-US" sz="2000">
              <a:cs typeface="+mj-lt"/>
            </a:endParaRPr>
          </a:p>
          <a:p>
            <a:pPr marL="1085850" lvl="1" indent="-342900">
              <a:lnSpc>
                <a:spcPct val="90000"/>
              </a:lnSpc>
              <a:buClr>
                <a:srgbClr val="000000"/>
              </a:buClr>
              <a:buFont typeface="Wingdings" panose="05000000000000000000" charset="0"/>
              <a:buChar char="v"/>
            </a:pPr>
            <a:r>
              <a:rPr lang="en-US" sz="2000">
                <a:cs typeface="+mj-lt"/>
              </a:rPr>
              <a:t>General Zia-ul-Haq overthrew Bhutto in a coup and imposed martial law.</a:t>
            </a:r>
          </a:p>
          <a:p>
            <a:pPr marL="1085850" lvl="1" indent="-342900">
              <a:lnSpc>
                <a:spcPct val="90000"/>
              </a:lnSpc>
              <a:buClr>
                <a:srgbClr val="000000"/>
              </a:buClr>
              <a:buFont typeface="Wingdings" panose="05000000000000000000" charset="0"/>
              <a:buChar char="v"/>
            </a:pPr>
            <a:endParaRPr lang="en-US" sz="2000">
              <a:cs typeface="+mj-lt"/>
            </a:endParaRPr>
          </a:p>
          <a:p>
            <a:pPr marL="1085850" lvl="1" indent="-342900">
              <a:lnSpc>
                <a:spcPct val="90000"/>
              </a:lnSpc>
              <a:buClr>
                <a:srgbClr val="000000"/>
              </a:buClr>
              <a:buFont typeface="Wingdings" panose="05000000000000000000" charset="0"/>
              <a:buChar char="v"/>
            </a:pPr>
            <a:r>
              <a:rPr lang="en-US" sz="2000">
                <a:cs typeface="+mj-lt"/>
              </a:rPr>
              <a:t>Zia centralized power further, curbing political freedoms and sidelining provinces.</a:t>
            </a:r>
          </a:p>
          <a:p>
            <a:pPr lvl="1" indent="0">
              <a:lnSpc>
                <a:spcPct val="90000"/>
              </a:lnSpc>
              <a:buClr>
                <a:srgbClr val="000000"/>
              </a:buClr>
              <a:buFont typeface="Wingdings" panose="05000000000000000000" charset="0"/>
              <a:buNone/>
            </a:pPr>
            <a:endParaRPr lang="en-US" sz="2000">
              <a:cs typeface="+mj-lt"/>
            </a:endParaRPr>
          </a:p>
          <a:p>
            <a:pPr lvl="1">
              <a:lnSpc>
                <a:spcPct val="90000"/>
              </a:lnSpc>
              <a:buClr>
                <a:srgbClr val="000000"/>
              </a:buClr>
              <a:buFont typeface="Wingdings" panose="05000000000000000000" charset="0"/>
              <a:buChar char="v"/>
            </a:pPr>
            <a:r>
              <a:rPr lang="en-US" sz="2000">
                <a:cs typeface="+mj-lt"/>
              </a:rPr>
              <a:t>Bhutto’s unlawful  Execution </a:t>
            </a:r>
          </a:p>
          <a:p>
            <a:pPr marL="0" indent="0">
              <a:lnSpc>
                <a:spcPct val="70000"/>
              </a:lnSpc>
              <a:buNone/>
            </a:pPr>
            <a:endParaRPr lang="en-US">
              <a:latin typeface="Aptos"/>
            </a:endParaRPr>
          </a:p>
          <a:p>
            <a:pPr marL="0" indent="0">
              <a:lnSpc>
                <a:spcPct val="70000"/>
              </a:lnSpc>
              <a:buClr>
                <a:srgbClr val="1E5155">
                  <a:lumMod val="40000"/>
                  <a:lumOff val="60000"/>
                </a:srgbClr>
              </a:buClr>
              <a:buNone/>
            </a:pPr>
            <a:endParaRPr lang="en-US">
              <a:latin typeface="Aptos"/>
            </a:endParaRPr>
          </a:p>
          <a:p>
            <a:pPr>
              <a:lnSpc>
                <a:spcPct val="70000"/>
              </a:lnSpc>
              <a:buClr>
                <a:srgbClr val="8AD0D6"/>
              </a:buClr>
              <a:buFont typeface="Arial" panose="020B0604020202020204" charset="2"/>
              <a:buChar char="•"/>
            </a:pPr>
            <a:endParaRPr lang="en-US">
              <a:latin typeface="Apto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190" y="1645920"/>
            <a:ext cx="2962275" cy="4471035"/>
          </a:xfrm>
        </p:spPr>
        <p:txBody>
          <a:bodyPr>
            <a:normAutofit/>
          </a:bodyPr>
          <a:lstStyle/>
          <a:p>
            <a:pPr algn="r"/>
            <a:r>
              <a:rPr lang="en-US" sz="3200" dirty="0">
                <a:solidFill>
                  <a:srgbClr val="FFFFFF"/>
                </a:solidFill>
              </a:rPr>
              <a:t>Democratic  instability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4109" y="1645920"/>
            <a:ext cx="5919503" cy="447082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000000"/>
              </a:buClr>
              <a:buSzPct val="100000"/>
              <a:buFont typeface="Wingdings" panose="05000000000000000000" charset="0"/>
              <a:buChar char="v"/>
            </a:pPr>
            <a:r>
              <a:rPr lang="en-US" dirty="0">
                <a:cs typeface="+mj-lt"/>
              </a:rPr>
              <a:t>Politically overthrown governments of </a:t>
            </a:r>
            <a:r>
              <a:rPr lang="en-US" b="1" dirty="0">
                <a:cs typeface="+mj-lt"/>
              </a:rPr>
              <a:t>Benazir Bhutto</a:t>
            </a:r>
            <a:r>
              <a:rPr lang="en-US" dirty="0">
                <a:cs typeface="+mj-lt"/>
              </a:rPr>
              <a:t> and </a:t>
            </a:r>
            <a:r>
              <a:rPr lang="en-US" b="1" dirty="0">
                <a:cs typeface="+mj-lt"/>
              </a:rPr>
              <a:t>Nawaz Sharif </a:t>
            </a:r>
            <a:r>
              <a:rPr lang="en-US" dirty="0">
                <a:cs typeface="+mj-lt"/>
              </a:rPr>
              <a:t>caused democratic instability</a:t>
            </a:r>
            <a:r>
              <a:rPr lang="en-US" b="1" dirty="0">
                <a:cs typeface="+mj-lt"/>
              </a:rPr>
              <a:t>.</a:t>
            </a:r>
          </a:p>
          <a:p>
            <a:pPr>
              <a:buClr>
                <a:srgbClr val="000000"/>
              </a:buClr>
              <a:buSzPct val="100000"/>
              <a:buFont typeface="Wingdings" panose="05000000000000000000" charset="0"/>
              <a:buChar char="v"/>
            </a:pPr>
            <a:r>
              <a:rPr lang="en-US" dirty="0">
                <a:cs typeface="+mj-lt"/>
              </a:rPr>
              <a:t>General Pervez Musharraf outcasted Nawaz Sharif in a coup and imposed  Martial law in 1999.</a:t>
            </a:r>
          </a:p>
          <a:p>
            <a:pPr>
              <a:buClr>
                <a:srgbClr val="000000"/>
              </a:buClr>
              <a:buSzPct val="100000"/>
              <a:buFont typeface="Wingdings" panose="05000000000000000000" charset="0"/>
              <a:buChar char="v"/>
            </a:pPr>
            <a:r>
              <a:rPr lang="en-US" dirty="0">
                <a:cs typeface="+mj-lt"/>
              </a:rPr>
              <a:t>Musharraf's policies focused on centralization, exacerbating regional grievances, especially in Balochistan.</a:t>
            </a:r>
          </a:p>
          <a:p>
            <a:pPr>
              <a:buClr>
                <a:srgbClr val="000000"/>
              </a:buClr>
              <a:buSzPct val="100000"/>
              <a:buFont typeface="Wingdings" panose="05000000000000000000" charset="0"/>
              <a:buChar char="v"/>
            </a:pPr>
            <a:r>
              <a:rPr lang="en-US" dirty="0">
                <a:cs typeface="+mj-lt"/>
              </a:rPr>
              <a:t>The killing of </a:t>
            </a:r>
            <a:r>
              <a:rPr lang="en-US" b="1" dirty="0">
                <a:cs typeface="+mj-lt"/>
              </a:rPr>
              <a:t>Nawab Akbar Bugti</a:t>
            </a:r>
            <a:r>
              <a:rPr lang="en-US" dirty="0">
                <a:cs typeface="+mj-lt"/>
              </a:rPr>
              <a:t> in 2006.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Sardar Bacha Khan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479" y="1641438"/>
            <a:ext cx="10756290" cy="46505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Aptos"/>
              </a:rPr>
              <a:t> </a:t>
            </a:r>
            <a:endParaRPr lang="en-US" b="1" u="sng" dirty="0">
              <a:latin typeface="Aptos"/>
            </a:endParaRPr>
          </a:p>
          <a:p>
            <a:pPr>
              <a:lnSpc>
                <a:spcPct val="110000"/>
              </a:lnSpc>
              <a:buFont typeface="Wingdings" panose="05000000000000000000" charset="0"/>
              <a:buChar char="v"/>
            </a:pPr>
            <a:r>
              <a:rPr lang="en-US" b="1" dirty="0">
                <a:latin typeface="Bahnschrift Light"/>
                <a:cs typeface="Bahnschrift Light" panose="020B0502040204020203" charset="0"/>
              </a:rPr>
              <a:t>Championed autonomy for Pashtun-majority areas</a:t>
            </a:r>
          </a:p>
          <a:p>
            <a:pPr marL="0" indent="0">
              <a:lnSpc>
                <a:spcPct val="110000"/>
              </a:lnSpc>
              <a:buFont typeface="Wingdings" panose="05000000000000000000" charset="0"/>
              <a:buNone/>
            </a:pPr>
            <a:r>
              <a:rPr lang="en-US" dirty="0">
                <a:latin typeface="Bahnschrift Light"/>
                <a:cs typeface="Bahnschrift Light" panose="020B0502040204020203" charset="0"/>
              </a:rPr>
              <a:t>     pre and post-partition. </a:t>
            </a:r>
            <a:endParaRPr lang="en-US" b="1" dirty="0">
              <a:latin typeface="Bahnschrift Light"/>
              <a:cs typeface="Bahnschrift Light" panose="020B0502040204020203" charset="0"/>
            </a:endParaRPr>
          </a:p>
          <a:p>
            <a:pPr>
              <a:lnSpc>
                <a:spcPct val="110000"/>
              </a:lnSpc>
              <a:buFont typeface="Wingdings" panose="05000000000000000000" charset="0"/>
              <a:buChar char="v"/>
            </a:pPr>
            <a:r>
              <a:rPr lang="en-US" dirty="0">
                <a:latin typeface="Bahnschrift Light" panose="020B0502040204020203" charset="0"/>
                <a:cs typeface="Bahnschrift Light" panose="020B0502040204020203" charset="0"/>
              </a:rPr>
              <a:t>Opposed the </a:t>
            </a:r>
            <a:r>
              <a:rPr lang="en-US" b="1" dirty="0">
                <a:latin typeface="Bahnschrift Light" panose="020B0502040204020203" charset="0"/>
                <a:cs typeface="Bahnschrift Light" panose="020B0502040204020203" charset="0"/>
              </a:rPr>
              <a:t>One-Unit Scheme</a:t>
            </a:r>
            <a:r>
              <a:rPr lang="en-US" dirty="0">
                <a:latin typeface="Bahnschrift Light" panose="020B0502040204020203" charset="0"/>
                <a:cs typeface="Bahnschrift Light" panose="020B0502040204020203" charset="0"/>
              </a:rPr>
              <a:t> (1955), which he </a:t>
            </a:r>
          </a:p>
          <a:p>
            <a:pPr marL="0" indent="0">
              <a:lnSpc>
                <a:spcPct val="110000"/>
              </a:lnSpc>
              <a:buFont typeface="Wingdings" panose="05000000000000000000" charset="0"/>
              <a:buNone/>
            </a:pPr>
            <a:r>
              <a:rPr lang="en-US" dirty="0">
                <a:latin typeface="Bahnschrift Light" panose="020B0502040204020203" charset="0"/>
                <a:cs typeface="Bahnschrift Light" panose="020B0502040204020203" charset="0"/>
              </a:rPr>
              <a:t>     believed marginalized smaller provinces.</a:t>
            </a:r>
            <a:endParaRPr lang="en-US" b="1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>
              <a:lnSpc>
                <a:spcPct val="110000"/>
              </a:lnSpc>
              <a:buFont typeface="Wingdings" panose="05000000000000000000" charset="0"/>
              <a:buChar char="v"/>
            </a:pPr>
            <a:r>
              <a:rPr lang="en-US" dirty="0">
                <a:latin typeface="Bahnschrift Light"/>
                <a:cs typeface="Bahnschrift Light" panose="020B0502040204020203" charset="0"/>
              </a:rPr>
              <a:t>Used </a:t>
            </a:r>
            <a:r>
              <a:rPr lang="en-US" b="1" dirty="0">
                <a:latin typeface="Bahnschrift Light"/>
                <a:cs typeface="Bahnschrift Light" panose="020B0502040204020203" charset="0"/>
              </a:rPr>
              <a:t>peaceful means to demand provincial </a:t>
            </a:r>
          </a:p>
          <a:p>
            <a:pPr marL="0" indent="0">
              <a:lnSpc>
                <a:spcPct val="110000"/>
              </a:lnSpc>
              <a:buFont typeface="Wingdings" panose="05000000000000000000" charset="0"/>
              <a:buNone/>
            </a:pPr>
            <a:r>
              <a:rPr lang="en-US" b="1" dirty="0">
                <a:latin typeface="Bahnschrift Light"/>
                <a:cs typeface="Bahnschrift Light" panose="020B0502040204020203" charset="0"/>
              </a:rPr>
              <a:t>     self-governance</a:t>
            </a:r>
            <a:r>
              <a:rPr lang="en-US" dirty="0">
                <a:latin typeface="Bahnschrift Light"/>
                <a:cs typeface="Bahnschrift Light" panose="020B0502040204020203" charset="0"/>
              </a:rPr>
              <a:t> and equality in decision-making.</a:t>
            </a:r>
          </a:p>
          <a:p>
            <a:pPr>
              <a:buClr>
                <a:srgbClr val="8AD0D6"/>
              </a:buClr>
              <a:buAutoNum type="arabicParenR"/>
            </a:pPr>
            <a:endParaRPr lang="en-US" sz="3200" dirty="0">
              <a:latin typeface="Bahnschrift Light" panose="020B0502040204020203" charset="0"/>
              <a:cs typeface="Bahnschrift Light" panose="020B0502040204020203" charset="0"/>
            </a:endParaRPr>
          </a:p>
        </p:txBody>
      </p:sp>
      <p:pic>
        <p:nvPicPr>
          <p:cNvPr id="4" name="Picture 3" descr="c4242a481140f0829879c1db007811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2964" y="1719916"/>
            <a:ext cx="4115435" cy="41154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4346" y="652743"/>
            <a:ext cx="9404723" cy="1400530"/>
          </a:xfrm>
        </p:spPr>
        <p:txBody>
          <a:bodyPr/>
          <a:lstStyle/>
          <a:p>
            <a:r>
              <a:rPr lang="en-US" sz="3600" b="1" dirty="0">
                <a:cs typeface="+mj-lt"/>
                <a:sym typeface="+mn-ea"/>
              </a:rPr>
              <a:t>Abdul Wali khan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329" y="1854163"/>
            <a:ext cx="10756290" cy="46505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Aptos"/>
              </a:rPr>
              <a:t> </a:t>
            </a:r>
            <a:endParaRPr lang="en-US" b="1" u="sng" dirty="0">
              <a:latin typeface="Aptos"/>
            </a:endParaRPr>
          </a:p>
          <a:p>
            <a:pPr>
              <a:lnSpc>
                <a:spcPct val="110000"/>
              </a:lnSpc>
              <a:buFont typeface="Wingdings" panose="05000000000000000000" charset="0"/>
              <a:buChar char="v"/>
            </a:pPr>
            <a:r>
              <a:rPr lang="en-US" dirty="0">
                <a:latin typeface="Bahnschrift Light"/>
                <a:cs typeface="Bahnschrift Light" panose="020B0502040204020203" charset="0"/>
                <a:sym typeface="+mn-ea"/>
              </a:rPr>
              <a:t>Played a vital role in </a:t>
            </a:r>
            <a:r>
              <a:rPr lang="en-US" b="1" dirty="0">
                <a:latin typeface="Bahnschrift Light"/>
                <a:cs typeface="Bahnschrift Light" panose="020B0502040204020203" charset="0"/>
                <a:sym typeface="+mn-ea"/>
              </a:rPr>
              <a:t>framing the 1973 Constitution</a:t>
            </a:r>
            <a:r>
              <a:rPr lang="en-US" dirty="0">
                <a:latin typeface="Bahnschrift Light"/>
                <a:cs typeface="Bahnschrift Light" panose="020B0502040204020203" charset="0"/>
                <a:sym typeface="+mn-ea"/>
              </a:rPr>
              <a:t>,</a:t>
            </a:r>
            <a:endParaRPr lang="en-US" dirty="0">
              <a:latin typeface="Bahnschrift Light"/>
              <a:cs typeface="Bahnschrift Light" panose="020B0502040204020203" charset="0"/>
            </a:endParaRPr>
          </a:p>
          <a:p>
            <a:pPr marL="0" indent="0">
              <a:lnSpc>
                <a:spcPct val="110000"/>
              </a:lnSpc>
              <a:buFont typeface="Wingdings" panose="05000000000000000000" charset="0"/>
              <a:buNone/>
            </a:pPr>
            <a:r>
              <a:rPr lang="en-US" dirty="0">
                <a:latin typeface="Bahnschrift Light" panose="020B0502040204020203" charset="0"/>
                <a:cs typeface="Bahnschrift Light" panose="020B0502040204020203" charset="0"/>
                <a:sym typeface="+mn-ea"/>
              </a:rPr>
              <a:t>     advocating for federalism and provincial autonomy.</a:t>
            </a:r>
            <a:endParaRPr lang="en-US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>
              <a:lnSpc>
                <a:spcPct val="110000"/>
              </a:lnSpc>
              <a:buClr>
                <a:srgbClr val="8AD0D6"/>
              </a:buClr>
              <a:buFont typeface="Wingdings" panose="05000000000000000000" charset="0"/>
              <a:buChar char="v"/>
            </a:pPr>
            <a:r>
              <a:rPr lang="en-US" b="1" dirty="0">
                <a:latin typeface="Bahnschrift Light"/>
                <a:cs typeface="Bahnschrift Light" panose="020B0502040204020203" charset="0"/>
                <a:sym typeface="+mn-ea"/>
              </a:rPr>
              <a:t>Criticized centralized policies</a:t>
            </a:r>
            <a:r>
              <a:rPr lang="en-US" dirty="0">
                <a:latin typeface="Bahnschrift Light"/>
                <a:cs typeface="Bahnschrift Light" panose="020B0502040204020203" charset="0"/>
                <a:sym typeface="+mn-ea"/>
              </a:rPr>
              <a:t> under Ayub Khan</a:t>
            </a:r>
            <a:endParaRPr lang="en-US" dirty="0">
              <a:latin typeface="Bahnschrift Light"/>
              <a:cs typeface="Bahnschrift Light" panose="020B0502040204020203" charset="0"/>
            </a:endParaRPr>
          </a:p>
          <a:p>
            <a:pPr marL="0" indent="0">
              <a:lnSpc>
                <a:spcPct val="110000"/>
              </a:lnSpc>
              <a:buClr>
                <a:srgbClr val="8AD0D6"/>
              </a:buClr>
              <a:buFont typeface="Wingdings" panose="05000000000000000000" charset="0"/>
              <a:buNone/>
            </a:pPr>
            <a:r>
              <a:rPr lang="en-US" dirty="0">
                <a:latin typeface="Bahnschrift Light" panose="020B0502040204020203" charset="0"/>
                <a:cs typeface="Bahnschrift Light" panose="020B0502040204020203" charset="0"/>
                <a:sym typeface="+mn-ea"/>
              </a:rPr>
              <a:t>     and Zia-ul-Haq, which undermined provincial representation.</a:t>
            </a:r>
            <a:endParaRPr lang="en-US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>
              <a:lnSpc>
                <a:spcPct val="110000"/>
              </a:lnSpc>
              <a:buClr>
                <a:srgbClr val="8AD0D6"/>
              </a:buClr>
              <a:buFont typeface="Wingdings" panose="05000000000000000000" charset="0"/>
              <a:buChar char="v"/>
            </a:pPr>
            <a:r>
              <a:rPr lang="en-US" dirty="0">
                <a:latin typeface="Bahnschrift Light"/>
                <a:cs typeface="Bahnschrift Light" panose="020B0502040204020203" charset="0"/>
                <a:sym typeface="+mn-ea"/>
              </a:rPr>
              <a:t>Continued the </a:t>
            </a:r>
            <a:r>
              <a:rPr lang="en-US" b="1" dirty="0">
                <a:latin typeface="Bahnschrift Light"/>
                <a:cs typeface="Bahnschrift Light" panose="020B0502040204020203" charset="0"/>
                <a:sym typeface="+mn-ea"/>
              </a:rPr>
              <a:t>fight for devolution of power,</a:t>
            </a:r>
            <a:r>
              <a:rPr lang="en-US" dirty="0">
                <a:latin typeface="Bahnschrift Light"/>
                <a:cs typeface="Bahnschrift Light" panose="020B0502040204020203" charset="0"/>
                <a:sym typeface="+mn-ea"/>
              </a:rPr>
              <a:t> laying</a:t>
            </a:r>
            <a:endParaRPr lang="en-US" dirty="0">
              <a:latin typeface="Bahnschrift Light"/>
              <a:cs typeface="Bahnschrift Light" panose="020B0502040204020203" charset="0"/>
            </a:endParaRPr>
          </a:p>
          <a:p>
            <a:pPr marL="0" indent="0">
              <a:lnSpc>
                <a:spcPct val="110000"/>
              </a:lnSpc>
              <a:buClr>
                <a:srgbClr val="8AD0D6"/>
              </a:buClr>
              <a:buFont typeface="Wingdings" panose="05000000000000000000" charset="0"/>
              <a:buNone/>
            </a:pPr>
            <a:r>
              <a:rPr lang="en-US" dirty="0">
                <a:latin typeface="Bahnschrift Light" panose="020B0502040204020203" charset="0"/>
                <a:cs typeface="Bahnschrift Light" panose="020B0502040204020203" charset="0"/>
                <a:sym typeface="+mn-ea"/>
              </a:rPr>
              <a:t>     groundwork for later reforms like the </a:t>
            </a:r>
            <a:r>
              <a:rPr lang="en-US" b="1" dirty="0">
                <a:latin typeface="Bahnschrift Light" panose="020B0502040204020203" charset="0"/>
                <a:cs typeface="Bahnschrift Light" panose="020B0502040204020203" charset="0"/>
                <a:sym typeface="+mn-ea"/>
              </a:rPr>
              <a:t>18th Amendment</a:t>
            </a:r>
            <a:r>
              <a:rPr lang="en-US" dirty="0">
                <a:latin typeface="Bahnschrift Light" panose="020B0502040204020203" charset="0"/>
                <a:cs typeface="Bahnschrift Light" panose="020B0502040204020203" charset="0"/>
                <a:sym typeface="+mn-ea"/>
              </a:rPr>
              <a:t>.</a:t>
            </a:r>
            <a:endParaRPr lang="en-US"/>
          </a:p>
          <a:p>
            <a:pPr marL="0" indent="0">
              <a:buClr>
                <a:srgbClr val="8AD0D6"/>
              </a:buClr>
              <a:buNone/>
            </a:pPr>
            <a:endParaRPr lang="en-US" sz="3200" dirty="0">
              <a:latin typeface="Bahnschrift Light" panose="020B0502040204020203" charset="0"/>
              <a:cs typeface="Bahnschrift Light" panose="020B0502040204020203" charset="0"/>
            </a:endParaRPr>
          </a:p>
        </p:txBody>
      </p:sp>
      <p:pic>
        <p:nvPicPr>
          <p:cNvPr id="6" name="Picture 5" descr="baf8493832c863bd19908bee4c6b1b0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8800" y="1758950"/>
            <a:ext cx="3271520" cy="43529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954295" y="1688465"/>
            <a:ext cx="8825658" cy="3329581"/>
          </a:xfrm>
        </p:spPr>
        <p:txBody>
          <a:bodyPr/>
          <a:lstStyle/>
          <a:p>
            <a:r>
              <a:rPr lang="en-US"/>
              <a:t>Constitutional History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128" y="1487170"/>
            <a:ext cx="3522879" cy="4470821"/>
          </a:xfrm>
        </p:spPr>
        <p:txBody>
          <a:bodyPr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Colonial Era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4109" y="1645920"/>
            <a:ext cx="5919503" cy="447082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buClr>
                <a:srgbClr val="000000"/>
              </a:buClr>
              <a:buSzPct val="100000"/>
              <a:buFont typeface="Wingdings" panose="05000000000000000000" charset="0"/>
              <a:buChar char="v"/>
            </a:pPr>
            <a:r>
              <a:rPr lang="en-US" dirty="0">
                <a:cs typeface="+mj-lt"/>
              </a:rPr>
              <a:t>During colonial rule, British governance in the </a:t>
            </a:r>
            <a:r>
              <a:rPr lang="en-US" b="1" dirty="0">
                <a:cs typeface="+mj-lt"/>
              </a:rPr>
              <a:t>subcontinent was centralized</a:t>
            </a:r>
            <a:r>
              <a:rPr lang="en-US" dirty="0">
                <a:cs typeface="+mj-lt"/>
              </a:rPr>
              <a:t>. Regions like  had little to no autonomy and were controlled by the colonial government.</a:t>
            </a:r>
            <a:endParaRPr lang="en-US">
              <a:cs typeface="+mj-lt"/>
            </a:endParaRPr>
          </a:p>
          <a:p>
            <a:pPr>
              <a:lnSpc>
                <a:spcPct val="90000"/>
              </a:lnSpc>
              <a:buClr>
                <a:srgbClr val="000000"/>
              </a:buClr>
              <a:buSzPct val="100000"/>
              <a:buFont typeface="Wingdings" panose="05000000000000000000" charset="0"/>
              <a:buChar char="v"/>
            </a:pPr>
            <a:endParaRPr lang="en-US">
              <a:cs typeface="+mj-lt"/>
            </a:endParaRPr>
          </a:p>
          <a:p>
            <a:pPr>
              <a:lnSpc>
                <a:spcPct val="90000"/>
              </a:lnSpc>
              <a:buClr>
                <a:srgbClr val="000000"/>
              </a:buClr>
              <a:buSzPct val="100000"/>
              <a:buFont typeface="Wingdings" panose="05000000000000000000" charset="0"/>
              <a:buChar char="v"/>
            </a:pPr>
            <a:r>
              <a:rPr lang="en-US" dirty="0">
                <a:cs typeface="+mj-lt"/>
              </a:rPr>
              <a:t>The colonial legacy of centralized governance,</a:t>
            </a:r>
            <a:r>
              <a:rPr lang="en-US" b="1" dirty="0">
                <a:cs typeface="+mj-lt"/>
              </a:rPr>
              <a:t> economic exploitation, and ethnic marginalization</a:t>
            </a:r>
            <a:r>
              <a:rPr lang="en-US" dirty="0">
                <a:cs typeface="+mj-lt"/>
              </a:rPr>
              <a:t> heavily influenced post-independence Pakistan.</a:t>
            </a:r>
            <a:endParaRPr lang="en-US">
              <a:cs typeface="+mj-lt"/>
            </a:endParaRPr>
          </a:p>
          <a:p>
            <a:pPr>
              <a:lnSpc>
                <a:spcPct val="90000"/>
              </a:lnSpc>
              <a:buClr>
                <a:srgbClr val="000000"/>
              </a:buClr>
              <a:buSzPct val="100000"/>
              <a:buFont typeface="Wingdings" panose="05000000000000000000" charset="0"/>
              <a:buChar char="v"/>
            </a:pPr>
            <a:endParaRPr lang="en-US">
              <a:cs typeface="+mj-lt"/>
            </a:endParaRPr>
          </a:p>
          <a:p>
            <a:pPr>
              <a:lnSpc>
                <a:spcPct val="90000"/>
              </a:lnSpc>
              <a:buClr>
                <a:srgbClr val="000000"/>
              </a:buClr>
              <a:buSzPct val="100000"/>
              <a:buFont typeface="Wingdings" panose="05000000000000000000" charset="0"/>
              <a:buChar char="v"/>
            </a:pPr>
            <a:r>
              <a:rPr lang="en-US" dirty="0">
                <a:cs typeface="+mj-lt"/>
              </a:rPr>
              <a:t>The government of </a:t>
            </a:r>
            <a:r>
              <a:rPr lang="en-US" b="1" dirty="0">
                <a:cs typeface="+mj-lt"/>
              </a:rPr>
              <a:t>Indian act 1935</a:t>
            </a:r>
            <a:r>
              <a:rPr lang="en-US" dirty="0">
                <a:cs typeface="+mj-lt"/>
              </a:rPr>
              <a:t> was still affecting the law and order of Pakistan till 1956.</a:t>
            </a:r>
            <a:endParaRPr lang="en-US">
              <a:cs typeface="+mj-lt"/>
            </a:endParaRPr>
          </a:p>
          <a:p>
            <a:pPr>
              <a:lnSpc>
                <a:spcPct val="90000"/>
              </a:lnSpc>
              <a:buClr>
                <a:srgbClr val="8AD0D6"/>
              </a:buClr>
            </a:pPr>
            <a:endParaRPr lang="en-US">
              <a:latin typeface="Aptos"/>
            </a:endParaRPr>
          </a:p>
          <a:p>
            <a:pPr>
              <a:lnSpc>
                <a:spcPct val="90000"/>
              </a:lnSpc>
              <a:buClr>
                <a:srgbClr val="8AD0D6"/>
              </a:buClr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 sz="3900">
                <a:solidFill>
                  <a:srgbClr val="EBEBEB"/>
                </a:solidFill>
              </a:rPr>
              <a:t>Misuse of power </a:t>
            </a:r>
          </a:p>
        </p:txBody>
      </p:sp>
      <p:sp useBgFill="1">
        <p:nvSpPr>
          <p:cNvPr id="16" name="Freeform: Shap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gray">
          <a:xfrm>
            <a:off x="1" y="2161482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pic>
        <p:nvPicPr>
          <p:cNvPr id="7" name="Graphic 6" descr="Bank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3484" y="2673002"/>
            <a:ext cx="3413845" cy="3413845"/>
          </a:xfrm>
          <a:prstGeom prst="rect">
            <a:avLst/>
          </a:prstGeom>
          <a:effectLst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7049" y="3406938"/>
            <a:ext cx="7269450" cy="266385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  <a:buClr>
                <a:srgbClr val="000000"/>
              </a:buClr>
              <a:buSzPct val="100000"/>
              <a:buFont typeface="Wingdings" panose="05000000000000000000" charset="0"/>
              <a:buChar char="v"/>
            </a:pPr>
            <a:r>
              <a:rPr lang="en-US" dirty="0">
                <a:cs typeface="+mj-lt"/>
              </a:rPr>
              <a:t>The 1956 Constitution introduced Pakistan’s first framework of governance, </a:t>
            </a:r>
            <a:r>
              <a:rPr lang="en-US" b="1" dirty="0">
                <a:cs typeface="+mj-lt"/>
              </a:rPr>
              <a:t>emphasizing federalism and democracy</a:t>
            </a:r>
            <a:r>
              <a:rPr lang="en-US" dirty="0">
                <a:cs typeface="+mj-lt"/>
              </a:rPr>
              <a:t>. However, it lasted only two years before Ayub Khan’s military coup in 1958.</a:t>
            </a:r>
          </a:p>
          <a:p>
            <a:pPr>
              <a:lnSpc>
                <a:spcPct val="90000"/>
              </a:lnSpc>
              <a:buClr>
                <a:srgbClr val="000000"/>
              </a:buClr>
              <a:buSzPct val="100000"/>
              <a:buFont typeface="Wingdings" panose="05000000000000000000" charset="0"/>
              <a:buChar char="v"/>
            </a:pPr>
            <a:r>
              <a:rPr lang="en-US" dirty="0">
                <a:cs typeface="+mj-lt"/>
              </a:rPr>
              <a:t>The abuse of power during Ayub Khan’s era highlighted the dangers of excessive centralization.</a:t>
            </a:r>
          </a:p>
          <a:p>
            <a:pPr marL="0" indent="0">
              <a:lnSpc>
                <a:spcPct val="90000"/>
              </a:lnSpc>
              <a:buClr>
                <a:srgbClr val="8AD0D6"/>
              </a:buClr>
              <a:buNone/>
            </a:pPr>
            <a:endParaRPr lang="en-US" sz="1700">
              <a:latin typeface="Aptos"/>
            </a:endParaRPr>
          </a:p>
          <a:p>
            <a:pPr>
              <a:lnSpc>
                <a:spcPct val="90000"/>
              </a:lnSpc>
              <a:buClr>
                <a:srgbClr val="8AD0D6"/>
              </a:buClr>
            </a:pPr>
            <a:endParaRPr lang="en-US" sz="1700">
              <a:latin typeface="Aptos"/>
            </a:endParaRPr>
          </a:p>
          <a:p>
            <a:pPr>
              <a:lnSpc>
                <a:spcPct val="90000"/>
              </a:lnSpc>
              <a:buClr>
                <a:srgbClr val="8AD0D6"/>
              </a:buClr>
            </a:pPr>
            <a:endParaRPr lang="en-US" sz="17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8th Amendment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865505" y="2052955"/>
            <a:ext cx="6303010" cy="2852420"/>
          </a:xfrm>
        </p:spPr>
        <p:txBody>
          <a:bodyPr vert="horz" lIns="91440" tIns="45720" rIns="91440" bIns="45720" rtlCol="0" anchor="t">
            <a:normAutofit fontScale="90000" lnSpcReduction="10000"/>
          </a:bodyPr>
          <a:lstStyle/>
          <a:p>
            <a:pPr>
              <a:lnSpc>
                <a:spcPct val="120000"/>
              </a:lnSpc>
              <a:buFont typeface="Wingdings" charset="2"/>
              <a:buChar char="v"/>
            </a:pPr>
            <a:r>
              <a:rPr lang="en-US" altLang="en-US" sz="2400" dirty="0"/>
              <a:t>General Zia-ul-Haq’s 8th Amendment (1985) introduced Article 58(2)(b), giving the President sweeping powers to dismiss the National Assembly and the Prime Minister. </a:t>
            </a:r>
            <a:endParaRPr lang="en-US" dirty="0"/>
          </a:p>
          <a:p>
            <a:pPr>
              <a:buFont typeface="Wingdings" charset="2"/>
              <a:buChar char="v"/>
            </a:pPr>
            <a:r>
              <a:rPr lang="en-US" altLang="en-US" sz="2400" dirty="0"/>
              <a:t>This amendment disrupted parliamentary </a:t>
            </a:r>
          </a:p>
          <a:p>
            <a:pPr marL="0" indent="0">
              <a:buNone/>
            </a:pPr>
            <a:r>
              <a:rPr lang="en-US" altLang="en-US" sz="2400" dirty="0"/>
              <a:t>     democracy and federalism</a:t>
            </a:r>
            <a:r>
              <a:rPr lang="en-US" altLang="en-US" dirty="0"/>
              <a:t>.</a:t>
            </a:r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7" name="Picture 6" descr="652a92a60eff42a9182c29b1eeaed34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5700" y="1761490"/>
            <a:ext cx="3888740" cy="44919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99096" y="852133"/>
            <a:ext cx="9404723" cy="1400530"/>
          </a:xfrm>
        </p:spPr>
        <p:txBody>
          <a:bodyPr/>
          <a:lstStyle/>
          <a:p>
            <a:r>
              <a:rPr lang="en-US"/>
              <a:t>13th Amendment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675005" y="2461895"/>
            <a:ext cx="6303010" cy="2852420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pPr>
              <a:lnSpc>
                <a:spcPct val="120000"/>
              </a:lnSpc>
              <a:buClr>
                <a:srgbClr val="8AD0D6"/>
              </a:buClr>
              <a:buFont typeface="Wingdings" charset="2"/>
              <a:buChar char="v"/>
            </a:pPr>
            <a:r>
              <a:rPr lang="en-US" altLang="en-US" sz="8000" dirty="0">
                <a:cs typeface="+mj-lt"/>
                <a:sym typeface="+mn-ea"/>
              </a:rPr>
              <a:t>The 13th Amendment, introduced by Nawaz government, repealed Article 58(2)(b), removing the President's power to dissolve the National Assembly. </a:t>
            </a:r>
            <a:endParaRPr lang="en-US"/>
          </a:p>
          <a:p>
            <a:pPr>
              <a:lnSpc>
                <a:spcPct val="120000"/>
              </a:lnSpc>
              <a:buFont typeface="Wingdings" charset="2"/>
              <a:buChar char="v"/>
            </a:pPr>
            <a:r>
              <a:rPr lang="en-US" altLang="en-US" sz="8000" dirty="0">
                <a:cs typeface="+mj-lt"/>
                <a:sym typeface="+mn-ea"/>
              </a:rPr>
              <a:t>This shift restored authority to the parliament, enhancing democratic governance and ensuring greater stability by reducing the likelihood of abrupt dismissals.</a:t>
            </a:r>
            <a:endParaRPr lang="en-US"/>
          </a:p>
          <a:p>
            <a:pPr marL="0" indent="0">
              <a:lnSpc>
                <a:spcPct val="90000"/>
              </a:lnSpc>
              <a:buClr>
                <a:srgbClr val="8AD0D6"/>
              </a:buClr>
              <a:buNone/>
            </a:pPr>
            <a:endParaRPr lang="en-US" altLang="en-US" sz="2400" dirty="0">
              <a:cs typeface="+mj-lt"/>
              <a:sym typeface="+mn-ea"/>
            </a:endParaRPr>
          </a:p>
          <a:p>
            <a:pPr marL="0" indent="0">
              <a:lnSpc>
                <a:spcPct val="90000"/>
              </a:lnSpc>
              <a:buClr>
                <a:srgbClr val="8AD0D6"/>
              </a:buClr>
              <a:buNone/>
            </a:pPr>
            <a:endParaRPr lang="en-US" altLang="en-US" sz="2400" dirty="0">
              <a:cs typeface="+mj-lt"/>
              <a:sym typeface="+mn-ea"/>
            </a:endParaRPr>
          </a:p>
          <a:p>
            <a:pPr marL="0" indent="0">
              <a:lnSpc>
                <a:spcPct val="90000"/>
              </a:lnSpc>
              <a:buClr>
                <a:srgbClr val="8AD0D6"/>
              </a:buClr>
              <a:buNone/>
            </a:pPr>
            <a:endParaRPr lang="en-US" altLang="en-US" sz="2400" dirty="0">
              <a:cs typeface="+mj-lt"/>
              <a:sym typeface="+mn-ea"/>
            </a:endParaRPr>
          </a:p>
          <a:p>
            <a:pPr marL="0" indent="0">
              <a:lnSpc>
                <a:spcPct val="90000"/>
              </a:lnSpc>
              <a:buClr>
                <a:srgbClr val="8AD0D6"/>
              </a:buClr>
              <a:buNone/>
            </a:pPr>
            <a:endParaRPr lang="en-US" altLang="en-US" sz="2400" dirty="0">
              <a:cs typeface="+mj-lt"/>
              <a:sym typeface="+mn-ea"/>
            </a:endParaRPr>
          </a:p>
          <a:p>
            <a:pPr marL="0" indent="0">
              <a:lnSpc>
                <a:spcPct val="90000"/>
              </a:lnSpc>
              <a:buClr>
                <a:srgbClr val="8AD0D6"/>
              </a:buClr>
              <a:buNone/>
            </a:pPr>
            <a:endParaRPr lang="en-US" altLang="en-US" sz="2400" dirty="0">
              <a:cs typeface="+mj-lt"/>
              <a:sym typeface="+mn-ea"/>
            </a:endParaRPr>
          </a:p>
          <a:p>
            <a:pPr marL="0" indent="0">
              <a:lnSpc>
                <a:spcPct val="90000"/>
              </a:lnSpc>
              <a:buClr>
                <a:srgbClr val="8AD0D6"/>
              </a:buClr>
              <a:buNone/>
            </a:pPr>
            <a:r>
              <a:rPr lang="en-US" sz="2400" dirty="0">
                <a:cs typeface="+mj-lt"/>
                <a:sym typeface="+mn-ea"/>
              </a:rPr>
              <a:t>.</a:t>
            </a:r>
            <a:endParaRPr lang="en-US" altLang="en-US"/>
          </a:p>
        </p:txBody>
      </p:sp>
      <p:pic>
        <p:nvPicPr>
          <p:cNvPr id="2" name="Picture 1" descr="0289496982d92c771cbfab824b3cee6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0170" y="1711325"/>
            <a:ext cx="2945130" cy="44183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33056" y="1061048"/>
            <a:ext cx="9404723" cy="1400530"/>
          </a:xfrm>
        </p:spPr>
        <p:txBody>
          <a:bodyPr/>
          <a:lstStyle/>
          <a:p>
            <a:r>
              <a:rPr lang="en-US"/>
              <a:t>17th Amendment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599440" y="2461895"/>
            <a:ext cx="6539865" cy="3708400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pPr>
              <a:lnSpc>
                <a:spcPct val="130000"/>
              </a:lnSpc>
              <a:buClr>
                <a:srgbClr val="8AD0D6"/>
              </a:buClr>
              <a:buFont typeface="Wingdings" charset="2"/>
              <a:buChar char="v"/>
            </a:pPr>
            <a:r>
              <a:rPr lang="en-US" altLang="en-US" sz="8000" dirty="0">
                <a:cs typeface="+mj-lt"/>
                <a:sym typeface="+mn-ea"/>
              </a:rPr>
              <a:t>The 17th Amendment, enacted during Pervez Musharraf’s presidency, reinstated Article 58(2)(b), granting the President the power to dissolve the National Assembly. </a:t>
            </a:r>
            <a:endParaRPr lang="en-US"/>
          </a:p>
          <a:p>
            <a:pPr>
              <a:lnSpc>
                <a:spcPct val="130000"/>
              </a:lnSpc>
              <a:buFont typeface="Wingdings" charset="2"/>
              <a:buChar char="v"/>
            </a:pPr>
            <a:r>
              <a:rPr lang="en-US" altLang="en-US" sz="8000" dirty="0">
                <a:cs typeface="+mj-lt"/>
                <a:sym typeface="+mn-ea"/>
              </a:rPr>
              <a:t>This amendment tilted the balance of power back towards the executive, limiting parliamentary sovereignty.</a:t>
            </a:r>
            <a:endParaRPr lang="en-US" altLang="en-US" sz="8000" dirty="0"/>
          </a:p>
          <a:p>
            <a:pPr marL="0" indent="0">
              <a:lnSpc>
                <a:spcPct val="120000"/>
              </a:lnSpc>
              <a:buClr>
                <a:srgbClr val="8AD0D6"/>
              </a:buClr>
              <a:buNone/>
            </a:pPr>
            <a:endParaRPr lang="en-US" altLang="en-US" sz="2400" dirty="0">
              <a:cs typeface="+mj-lt"/>
              <a:sym typeface="+mn-ea"/>
            </a:endParaRPr>
          </a:p>
          <a:p>
            <a:pPr marL="0" indent="0">
              <a:lnSpc>
                <a:spcPct val="120000"/>
              </a:lnSpc>
              <a:buClr>
                <a:srgbClr val="8AD0D6"/>
              </a:buClr>
              <a:buNone/>
            </a:pPr>
            <a:endParaRPr lang="en-US" altLang="en-US" sz="2400" dirty="0">
              <a:cs typeface="+mj-lt"/>
              <a:sym typeface="+mn-ea"/>
            </a:endParaRPr>
          </a:p>
          <a:p>
            <a:pPr marL="0" indent="0">
              <a:lnSpc>
                <a:spcPct val="120000"/>
              </a:lnSpc>
              <a:buClr>
                <a:srgbClr val="8AD0D6"/>
              </a:buClr>
              <a:buNone/>
            </a:pPr>
            <a:endParaRPr lang="en-US" altLang="en-US" sz="2400" dirty="0">
              <a:cs typeface="+mj-lt"/>
              <a:sym typeface="+mn-ea"/>
            </a:endParaRPr>
          </a:p>
          <a:p>
            <a:pPr marL="0" indent="0">
              <a:lnSpc>
                <a:spcPct val="120000"/>
              </a:lnSpc>
              <a:buClr>
                <a:srgbClr val="8AD0D6"/>
              </a:buClr>
              <a:buNone/>
            </a:pPr>
            <a:endParaRPr lang="en-US" altLang="en-US" sz="2400" dirty="0">
              <a:cs typeface="+mj-lt"/>
              <a:sym typeface="+mn-ea"/>
            </a:endParaRPr>
          </a:p>
          <a:p>
            <a:pPr marL="0" indent="0">
              <a:lnSpc>
                <a:spcPct val="120000"/>
              </a:lnSpc>
              <a:buClr>
                <a:srgbClr val="8AD0D6"/>
              </a:buClr>
              <a:buNone/>
            </a:pPr>
            <a:endParaRPr lang="en-US" altLang="en-US" sz="2400" dirty="0">
              <a:cs typeface="+mj-lt"/>
              <a:sym typeface="+mn-ea"/>
            </a:endParaRPr>
          </a:p>
          <a:p>
            <a:pPr marL="0" indent="0">
              <a:lnSpc>
                <a:spcPct val="90000"/>
              </a:lnSpc>
              <a:buClr>
                <a:srgbClr val="8AD0D6"/>
              </a:buClr>
              <a:buNone/>
            </a:pPr>
            <a:endParaRPr lang="en-US" altLang="en-US" sz="2400" dirty="0">
              <a:cs typeface="+mj-lt"/>
              <a:sym typeface="+mn-ea"/>
            </a:endParaRPr>
          </a:p>
          <a:p>
            <a:pPr marL="0" indent="0">
              <a:lnSpc>
                <a:spcPct val="90000"/>
              </a:lnSpc>
              <a:buClr>
                <a:srgbClr val="8AD0D6"/>
              </a:buClr>
              <a:buNone/>
            </a:pPr>
            <a:endParaRPr lang="en-US" altLang="en-US" sz="2400" dirty="0">
              <a:cs typeface="+mj-lt"/>
              <a:sym typeface="+mn-ea"/>
            </a:endParaRPr>
          </a:p>
          <a:p>
            <a:pPr marL="0" indent="0">
              <a:lnSpc>
                <a:spcPct val="90000"/>
              </a:lnSpc>
              <a:buClr>
                <a:srgbClr val="8AD0D6"/>
              </a:buClr>
              <a:buNone/>
            </a:pPr>
            <a:endParaRPr lang="en-US" altLang="en-US" sz="2400" dirty="0">
              <a:cs typeface="+mj-lt"/>
              <a:sym typeface="+mn-ea"/>
            </a:endParaRPr>
          </a:p>
          <a:p>
            <a:pPr marL="0" indent="0">
              <a:lnSpc>
                <a:spcPct val="90000"/>
              </a:lnSpc>
              <a:buClr>
                <a:srgbClr val="8AD0D6"/>
              </a:buClr>
              <a:buNone/>
            </a:pPr>
            <a:endParaRPr lang="en-US" altLang="en-US" sz="2400" dirty="0">
              <a:cs typeface="+mj-lt"/>
              <a:sym typeface="+mn-ea"/>
            </a:endParaRPr>
          </a:p>
          <a:p>
            <a:pPr marL="0" indent="0">
              <a:lnSpc>
                <a:spcPct val="90000"/>
              </a:lnSpc>
              <a:buClr>
                <a:srgbClr val="8AD0D6"/>
              </a:buClr>
              <a:buNone/>
            </a:pPr>
            <a:endParaRPr lang="en-US" altLang="en-US" sz="2400" dirty="0">
              <a:cs typeface="+mj-lt"/>
              <a:sym typeface="+mn-ea"/>
            </a:endParaRPr>
          </a:p>
          <a:p>
            <a:pPr marL="0" indent="0">
              <a:lnSpc>
                <a:spcPct val="90000"/>
              </a:lnSpc>
              <a:buClr>
                <a:srgbClr val="8AD0D6"/>
              </a:buClr>
              <a:buNone/>
            </a:pPr>
            <a:r>
              <a:rPr lang="en-US" sz="2400" dirty="0">
                <a:cs typeface="+mj-lt"/>
                <a:sym typeface="+mn-ea"/>
              </a:rPr>
              <a:t>.</a:t>
            </a:r>
            <a:endParaRPr lang="en-US" altLang="en-US"/>
          </a:p>
        </p:txBody>
      </p:sp>
      <p:pic>
        <p:nvPicPr>
          <p:cNvPr id="3" name="Picture 2" descr="63189c7db517cbab2a56afd22ba24dc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0210" y="1774825"/>
            <a:ext cx="3185795" cy="47790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144905" y="2600325"/>
            <a:ext cx="8836025" cy="1866265"/>
          </a:xfrm>
        </p:spPr>
        <p:txBody>
          <a:bodyPr/>
          <a:lstStyle/>
          <a:p>
            <a:r>
              <a:rPr lang="en-US"/>
              <a:t>The Revival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Freeform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  <a:cs typeface="+mj-lt"/>
              </a:rPr>
              <a:t>18</a:t>
            </a:r>
            <a:r>
              <a:rPr lang="en-US" b="1" baseline="30000" dirty="0">
                <a:solidFill>
                  <a:srgbClr val="FFFFFF"/>
                </a:solidFill>
                <a:cs typeface="+mj-lt"/>
              </a:rPr>
              <a:t>th</a:t>
            </a:r>
            <a:r>
              <a:rPr lang="en-US" b="1" dirty="0">
                <a:solidFill>
                  <a:srgbClr val="FFFFFF"/>
                </a:solidFill>
                <a:cs typeface="+mj-lt"/>
              </a:rPr>
              <a:t> Amendment (2010)</a:t>
            </a:r>
            <a:endParaRPr lang="en-US" dirty="0">
              <a:solidFill>
                <a:srgbClr val="FFFFFF"/>
              </a:solidFill>
              <a:cs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0505" y="2715995"/>
            <a:ext cx="11558756" cy="34095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altLang="en-US" sz="2400" dirty="0">
                <a:cs typeface="+mj-lt"/>
              </a:rPr>
              <a:t>The 18th Amendment, passed in April 2010, marked a turning point, restoring provincial autonomy and strengthening democracy, fostering a more balanced federation.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sz="1800" dirty="0">
              <a:cs typeface="+mj-lt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2400" dirty="0">
                <a:cs typeface="+mj-lt"/>
              </a:rPr>
              <a:t>It </a:t>
            </a:r>
            <a:r>
              <a:rPr lang="en-US" altLang="en-US" sz="2400" b="1" dirty="0">
                <a:cs typeface="+mj-lt"/>
              </a:rPr>
              <a:t>abolished Article 58(2)(b)</a:t>
            </a:r>
            <a:r>
              <a:rPr lang="en-US" altLang="en-US" sz="2400" dirty="0">
                <a:cs typeface="+mj-lt"/>
              </a:rPr>
              <a:t>, which had allowed the President to dissolve the National Assembly. This change curtailed presidential powers, reinforcing </a:t>
            </a:r>
            <a:r>
              <a:rPr lang="en-US" altLang="en-US" sz="2400" b="1" dirty="0">
                <a:cs typeface="+mj-lt"/>
              </a:rPr>
              <a:t>parliamentary sovereignty</a:t>
            </a:r>
            <a:r>
              <a:rPr lang="en-US" altLang="en-US" sz="2400" dirty="0">
                <a:cs typeface="+mj-lt"/>
              </a:rPr>
              <a:t> and ensuring the continuity of democratic governance.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sz="2400" dirty="0">
              <a:cs typeface="+mj-lt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5770" y="309880"/>
            <a:ext cx="9395460" cy="730213"/>
          </a:xfrm>
        </p:spPr>
        <p:txBody>
          <a:bodyPr/>
          <a:lstStyle/>
          <a:p>
            <a:r>
              <a:rPr lang="en-US" dirty="0"/>
              <a:t>Important articles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5587" y="1265312"/>
            <a:ext cx="11103751" cy="519106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Wingdings" panose="05000000000000000000" charset="0"/>
              <a:buChar char="v"/>
            </a:pPr>
            <a:r>
              <a:rPr lang="en-US" sz="2400" b="1" dirty="0">
                <a:ea typeface="+mj-lt"/>
                <a:cs typeface="+mj-lt"/>
              </a:rPr>
              <a:t>Article 6 (High Treason)</a:t>
            </a:r>
            <a:endParaRPr lang="en-US"/>
          </a:p>
          <a:p>
            <a:pPr marL="0" indent="0">
              <a:buNone/>
            </a:pPr>
            <a:r>
              <a:rPr lang="en-US" dirty="0">
                <a:ea typeface="+mj-lt"/>
                <a:cs typeface="+mj-lt"/>
              </a:rPr>
              <a:t>       Strengthened to prevent unconstitutional takeovers by explicitly stating that aiding, abetting, or collaborating in suspending or subverting the Constitution is an act of treason.</a:t>
            </a:r>
            <a:endParaRPr lang="en-US" dirty="0"/>
          </a:p>
          <a:p>
            <a:pPr>
              <a:buClr>
                <a:srgbClr val="8AD0D6"/>
              </a:buClr>
              <a:buFont typeface="Wingdings" panose="05000000000000000000" charset="0"/>
              <a:buChar char="v"/>
            </a:pPr>
            <a:r>
              <a:rPr lang="en-US" sz="2400" b="1" dirty="0">
                <a:ea typeface="+mj-lt"/>
                <a:cs typeface="+mj-lt"/>
              </a:rPr>
              <a:t>Article 25-A (Right to Education)</a:t>
            </a:r>
            <a:endParaRPr lang="en-US" b="1"/>
          </a:p>
          <a:p>
            <a:pPr marL="0" indent="0">
              <a:buClr>
                <a:srgbClr val="8AD0D6"/>
              </a:buClr>
              <a:buNone/>
            </a:pPr>
            <a:r>
              <a:rPr lang="en-US" dirty="0">
                <a:ea typeface="+mj-lt"/>
                <a:cs typeface="+mj-lt"/>
              </a:rPr>
              <a:t>     Introduced free and compulsory education as a fundamental right for children aged 5 to 16 years.</a:t>
            </a:r>
            <a:endParaRPr lang="en-US" dirty="0"/>
          </a:p>
          <a:p>
            <a:pPr>
              <a:buClr>
                <a:srgbClr val="8AD0D6"/>
              </a:buClr>
              <a:buFont typeface="Wingdings" panose="05000000000000000000" charset="0"/>
              <a:buChar char="v"/>
            </a:pPr>
            <a:r>
              <a:rPr lang="en-US" sz="2400" b="1" dirty="0">
                <a:cs typeface="+mj-lt"/>
              </a:rPr>
              <a:t>Article 70 &amp; Concurrent List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cs typeface="+mj-lt"/>
              </a:rPr>
              <a:t>        Concurrent Legislative List abolished</a:t>
            </a:r>
            <a:r>
              <a:rPr lang="en-US" dirty="0">
                <a:cs typeface="+mj-lt"/>
              </a:rPr>
              <a:t>, transferring subjects like health, education, and agriculture to provincial governments.</a:t>
            </a:r>
          </a:p>
          <a:p>
            <a:pPr>
              <a:buFont typeface="Wingdings" panose="05000000000000000000" charset="0"/>
              <a:buChar char="v"/>
            </a:pPr>
            <a:r>
              <a:rPr lang="en-US" sz="2400" b="1" dirty="0">
                <a:cs typeface="+mj-lt"/>
              </a:rPr>
              <a:t>Article 91 (Prime Minister)</a:t>
            </a:r>
            <a:endParaRPr lang="en-US" sz="2400" dirty="0">
              <a:cs typeface="+mj-lt"/>
            </a:endParaRPr>
          </a:p>
          <a:p>
            <a:pPr marL="0" indent="0">
              <a:buNone/>
            </a:pPr>
            <a:r>
              <a:rPr lang="en-US" dirty="0">
                <a:cs typeface="+mj-lt"/>
              </a:rPr>
              <a:t>        Restored the </a:t>
            </a:r>
            <a:r>
              <a:rPr lang="en-US" b="1" dirty="0">
                <a:cs typeface="+mj-lt"/>
              </a:rPr>
              <a:t>Prime Minister</a:t>
            </a:r>
            <a:r>
              <a:rPr lang="en-US" dirty="0">
                <a:cs typeface="+mj-lt"/>
              </a:rPr>
              <a:t> as the chief executive, reducing the President’s role to a ceremonial figure.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5770" y="309880"/>
            <a:ext cx="9395460" cy="1077595"/>
          </a:xfrm>
        </p:spPr>
        <p:txBody>
          <a:bodyPr/>
          <a:lstStyle/>
          <a:p>
            <a:r>
              <a:rPr lang="en-US" dirty="0"/>
              <a:t>More of them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5587" y="1511841"/>
            <a:ext cx="11103751" cy="4944539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Clr>
                <a:srgbClr val="1E5155">
                  <a:lumMod val="40000"/>
                  <a:lumOff val="60000"/>
                </a:srgbClr>
              </a:buClr>
              <a:buFont typeface="Wingdings" charset="2"/>
              <a:buChar char="v"/>
            </a:pPr>
            <a:r>
              <a:rPr lang="en-US" sz="2400" b="1" dirty="0">
                <a:cs typeface="+mj-lt"/>
              </a:rPr>
              <a:t>Article 143 (Federal-Provincial Disputes)</a:t>
            </a:r>
            <a:endParaRPr lang="en-US" sz="2400" dirty="0">
              <a:cs typeface="+mj-lt"/>
            </a:endParaRPr>
          </a:p>
          <a:p>
            <a:pPr marL="0" indent="0">
              <a:buNone/>
            </a:pPr>
            <a:r>
              <a:rPr lang="en-US" dirty="0">
                <a:cs typeface="+mj-lt"/>
              </a:rPr>
              <a:t>        Clearly defined the hierarchy: in case of conflict between federal and provincial laws, the federal law would prevail.</a:t>
            </a:r>
          </a:p>
          <a:p>
            <a:pPr>
              <a:buFont typeface="Wingdings" panose="05000000000000000000" charset="0"/>
              <a:buChar char="v"/>
            </a:pPr>
            <a:r>
              <a:rPr lang="en-US" sz="2400" b="1" dirty="0">
                <a:cs typeface="+mj-lt"/>
                <a:sym typeface="+mn-ea"/>
              </a:rPr>
              <a:t>Article 160 (National Finance Commission - NFC Award)</a:t>
            </a:r>
            <a:endParaRPr lang="en-US" sz="2400" dirty="0">
              <a:cs typeface="+mj-lt"/>
            </a:endParaRPr>
          </a:p>
          <a:p>
            <a:pPr marL="0" indent="0">
              <a:buNone/>
            </a:pPr>
            <a:r>
              <a:rPr lang="en-US" dirty="0">
                <a:cs typeface="+mj-lt"/>
                <a:sym typeface="+mn-ea"/>
              </a:rPr>
              <a:t>        Guaranteed provinces a larger share in the divisible pool of national resources.</a:t>
            </a:r>
            <a:endParaRPr lang="en-US" dirty="0">
              <a:cs typeface="+mj-lt"/>
            </a:endParaRPr>
          </a:p>
          <a:p>
            <a:pPr>
              <a:buClr>
                <a:srgbClr val="8AD0D6"/>
              </a:buClr>
              <a:buFont typeface="Wingdings"/>
              <a:buChar char="v"/>
            </a:pPr>
            <a:r>
              <a:rPr lang="en-US" sz="2400" b="1" dirty="0">
                <a:cs typeface="+mj-lt"/>
              </a:rPr>
              <a:t>Article 172 (Ownership of Natural Resources)</a:t>
            </a:r>
            <a:endParaRPr lang="en-US" sz="2400" dirty="0">
              <a:cs typeface="+mj-lt"/>
            </a:endParaRPr>
          </a:p>
          <a:p>
            <a:pPr marL="0" indent="0">
              <a:buNone/>
            </a:pPr>
            <a:r>
              <a:rPr lang="en-US" sz="2400" dirty="0">
                <a:cs typeface="+mj-lt"/>
              </a:rPr>
              <a:t>       Ensured provinces had joint ownership of oil, gas, and minerals within their boundaries.</a:t>
            </a:r>
            <a:endParaRPr lang="en-US" dirty="0"/>
          </a:p>
          <a:p>
            <a:pPr>
              <a:buClr>
                <a:srgbClr val="8AD0D6"/>
              </a:buClr>
              <a:buFont typeface="Wingdings,Sans-Serif"/>
              <a:buChar char="v"/>
            </a:pPr>
            <a:r>
              <a:rPr lang="en-US" sz="2400" b="1" dirty="0">
                <a:cs typeface="+mj-lt"/>
              </a:rPr>
              <a:t>Article 175-A (Judicial Commission)</a:t>
            </a:r>
            <a:endParaRPr lang="en-US" sz="2400" dirty="0">
              <a:cs typeface="+mj-lt"/>
            </a:endParaRPr>
          </a:p>
          <a:p>
            <a:pPr marL="0" indent="0">
              <a:buNone/>
            </a:pPr>
            <a:r>
              <a:rPr lang="en-US" sz="2400" dirty="0">
                <a:cs typeface="+mj-lt"/>
              </a:rPr>
              <a:t>Reformed the process of appointing judges to the Supreme Court and High Courts, making it more transparent and merit-based.</a:t>
            </a:r>
            <a:endParaRPr lang="en-US" dirty="0"/>
          </a:p>
          <a:p>
            <a:pPr>
              <a:buClr>
                <a:srgbClr val="8AD0D6"/>
              </a:buClr>
              <a:buFont typeface="Wingdings" charset="2"/>
              <a:buChar char="v"/>
            </a:pPr>
            <a:endParaRPr lang="en-US" sz="3600" dirty="0"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9263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5770" y="309880"/>
            <a:ext cx="9395460" cy="1077595"/>
          </a:xfrm>
        </p:spPr>
        <p:txBody>
          <a:bodyPr/>
          <a:lstStyle/>
          <a:p>
            <a:r>
              <a:rPr lang="en-US" dirty="0"/>
              <a:t>A little bit more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5587" y="1713548"/>
            <a:ext cx="11103751" cy="4059275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Clr>
                <a:srgbClr val="1E5155">
                  <a:lumMod val="40000"/>
                  <a:lumOff val="60000"/>
                </a:srgbClr>
              </a:buClr>
              <a:buFont typeface="Wingdings" charset="2"/>
              <a:buChar char="v"/>
            </a:pPr>
            <a:endParaRPr lang="en-US" sz="2400" b="1" dirty="0">
              <a:ea typeface="+mj-lt"/>
              <a:cs typeface="+mj-lt"/>
            </a:endParaRPr>
          </a:p>
          <a:p>
            <a:pPr>
              <a:buClr>
                <a:srgbClr val="8AD0D6"/>
              </a:buClr>
              <a:buFont typeface="Wingdings" charset="2"/>
              <a:buChar char="v"/>
            </a:pPr>
            <a:r>
              <a:rPr lang="en-US" sz="2400" b="1" dirty="0">
                <a:ea typeface="+mj-lt"/>
                <a:cs typeface="+mj-lt"/>
                <a:sym typeface="+mn-ea"/>
              </a:rPr>
              <a:t>Article 247 (Tribal Areas)</a:t>
            </a:r>
            <a:endParaRPr lang="en-US" b="1" dirty="0">
              <a:ea typeface="+mj-lt"/>
              <a:cs typeface="+mj-lt"/>
            </a:endParaRPr>
          </a:p>
          <a:p>
            <a:pPr marL="0" indent="0">
              <a:buClr>
                <a:srgbClr val="8AD0D6"/>
              </a:buClr>
              <a:buNone/>
            </a:pPr>
            <a:r>
              <a:rPr lang="en-US" sz="2400" dirty="0">
                <a:ea typeface="+mj-lt"/>
                <a:cs typeface="+mj-lt"/>
                <a:sym typeface="+mn-ea"/>
              </a:rPr>
              <a:t>       Paved the way for integrating the tribal areas (FATA) into the mainstream legal and administrative structure.</a:t>
            </a:r>
            <a:endParaRPr lang="en-US" dirty="0"/>
          </a:p>
          <a:p>
            <a:pPr>
              <a:buClr>
                <a:srgbClr val="8AD0D6"/>
              </a:buClr>
              <a:buFont typeface="Wingdings" charset="2"/>
              <a:buChar char="v"/>
            </a:pPr>
            <a:r>
              <a:rPr lang="en-US" sz="2400" b="1" dirty="0">
                <a:ea typeface="+mj-lt"/>
                <a:cs typeface="+mj-lt"/>
                <a:sym typeface="+mn-ea"/>
              </a:rPr>
              <a:t>Article 260 (Definition of Federation)</a:t>
            </a:r>
            <a:endParaRPr lang="en-US" b="1" dirty="0"/>
          </a:p>
          <a:p>
            <a:pPr marL="0" indent="0">
              <a:buClr>
                <a:srgbClr val="8AD0D6"/>
              </a:buClr>
              <a:buNone/>
            </a:pPr>
            <a:r>
              <a:rPr lang="en-US" sz="2400" dirty="0">
                <a:ea typeface="+mj-lt"/>
                <a:cs typeface="+mj-lt"/>
                <a:sym typeface="+mn-ea"/>
              </a:rPr>
              <a:t>      Renamed NWFP as Khyber Pakhtunkhwa, reflecting its ethnic identity.</a:t>
            </a:r>
            <a:endParaRPr lang="en-US" sz="2400" dirty="0">
              <a:ea typeface="+mj-lt"/>
              <a:cs typeface="+mj-lt"/>
            </a:endParaRPr>
          </a:p>
          <a:p>
            <a:pPr>
              <a:buClr>
                <a:srgbClr val="8AD0D6"/>
              </a:buClr>
              <a:buFont typeface="Wingdings" charset="2"/>
              <a:buChar char="v"/>
            </a:pPr>
            <a:endParaRPr lang="en-US" sz="2400" b="1" dirty="0">
              <a:cs typeface="+mj-lt"/>
            </a:endParaRPr>
          </a:p>
          <a:p>
            <a:pPr marL="0" indent="0">
              <a:buNone/>
            </a:pPr>
            <a:endParaRPr lang="en-US" dirty="0">
              <a:cs typeface="+mj-lt"/>
            </a:endParaRPr>
          </a:p>
          <a:p>
            <a:pPr>
              <a:buClr>
                <a:srgbClr val="8AD0D6"/>
              </a:buClr>
              <a:buFont typeface="Wingdings" charset="2"/>
              <a:buChar char="v"/>
            </a:pPr>
            <a:endParaRPr lang="en-US" sz="3600" dirty="0"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03603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386" y="395568"/>
            <a:ext cx="9404723" cy="728178"/>
          </a:xfrm>
        </p:spPr>
        <p:txBody>
          <a:bodyPr/>
          <a:lstStyle/>
          <a:p>
            <a:r>
              <a:rPr lang="en-US" sz="3600" dirty="0">
                <a:cs typeface="+mj-lt"/>
              </a:rPr>
              <a:t>Irony of Time</a:t>
            </a:r>
            <a:endParaRPr lang="en-US" sz="3600">
              <a:cs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150" y="1712953"/>
            <a:ext cx="11382792" cy="4392768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>
              <a:buFont typeface="Wingdings" panose="05000000000000000000" charset="0"/>
              <a:buChar char="v"/>
            </a:pPr>
            <a:r>
              <a:rPr lang="en-US" sz="2400" b="1" dirty="0">
                <a:cs typeface="+mj-lt"/>
              </a:rPr>
              <a:t>Bhutto</a:t>
            </a:r>
            <a:r>
              <a:rPr lang="en-US" sz="2400" dirty="0">
                <a:cs typeface="+mj-lt"/>
              </a:rPr>
              <a:t> outright rejected </a:t>
            </a:r>
            <a:r>
              <a:rPr lang="en-US" sz="2400" b="1" dirty="0">
                <a:cs typeface="+mj-lt"/>
              </a:rPr>
              <a:t>Mujib’s Six Points </a:t>
            </a:r>
            <a:r>
              <a:rPr lang="en-US" sz="2400" dirty="0">
                <a:cs typeface="+mj-lt"/>
              </a:rPr>
              <a:t>calling for provincial autonomy.</a:t>
            </a:r>
          </a:p>
          <a:p>
            <a:pPr>
              <a:buClr>
                <a:srgbClr val="8AD0D6"/>
              </a:buClr>
              <a:buFont typeface="Wingdings" panose="05000000000000000000" charset="0"/>
              <a:buChar char="v"/>
            </a:pPr>
            <a:r>
              <a:rPr lang="en-US" sz="2400" dirty="0">
                <a:cs typeface="+mj-lt"/>
              </a:rPr>
              <a:t>This rejection was one of the primary reasons for the breakup of Pakistan.</a:t>
            </a:r>
            <a:endParaRPr lang="en-US" sz="2400" dirty="0"/>
          </a:p>
          <a:p>
            <a:pPr marL="0" indent="0">
              <a:buClr>
                <a:srgbClr val="8AD0D6"/>
              </a:buClr>
              <a:buNone/>
            </a:pPr>
            <a:endParaRPr lang="en-US" sz="2400" dirty="0">
              <a:solidFill>
                <a:srgbClr val="FFFFFF"/>
              </a:solidFill>
              <a:cs typeface="+mj-lt"/>
            </a:endParaRPr>
          </a:p>
          <a:p>
            <a:pPr marL="0" indent="0" algn="ctr">
              <a:buClr>
                <a:srgbClr val="8AD0D6"/>
              </a:buClr>
              <a:buNone/>
            </a:pPr>
            <a:r>
              <a:rPr lang="en-US" sz="2800" b="1" dirty="0">
                <a:solidFill>
                  <a:schemeClr val="tx2"/>
                </a:solidFill>
                <a:cs typeface="+mj-lt"/>
              </a:rPr>
              <a:t>  The Grand </a:t>
            </a:r>
            <a:r>
              <a:rPr lang="en-US" sz="3200" b="1" dirty="0">
                <a:solidFill>
                  <a:schemeClr val="tx2"/>
                </a:solidFill>
                <a:cs typeface="+mj-lt"/>
              </a:rPr>
              <a:t>U-Turn</a:t>
            </a:r>
            <a:endParaRPr lang="en-US" sz="2800" dirty="0">
              <a:solidFill>
                <a:schemeClr val="tx2"/>
              </a:solidFill>
              <a:cs typeface="+mj-lt"/>
            </a:endParaRPr>
          </a:p>
          <a:p>
            <a:pPr>
              <a:buClr>
                <a:srgbClr val="8AD0D6"/>
              </a:buClr>
              <a:buFont typeface="Wingdings" panose="05000000000000000000" charset="0"/>
              <a:buChar char="v"/>
            </a:pPr>
            <a:endParaRPr lang="en-US" dirty="0">
              <a:cs typeface="+mj-lt"/>
            </a:endParaRPr>
          </a:p>
          <a:p>
            <a:pPr>
              <a:buClr>
                <a:srgbClr val="8AD0D6"/>
              </a:buClr>
              <a:buFont typeface="Wingdings" panose="05000000000000000000" charset="0"/>
              <a:buChar char="v"/>
            </a:pPr>
            <a:r>
              <a:rPr lang="en-US" sz="2400" dirty="0">
                <a:cs typeface="+mj-lt"/>
              </a:rPr>
              <a:t>In 2010, the same PPP-led government, spearheaded the 18th Amendment.</a:t>
            </a:r>
            <a:endParaRPr lang="en-US" sz="2400"/>
          </a:p>
          <a:p>
            <a:pPr>
              <a:buClr>
                <a:srgbClr val="8AD0D6"/>
              </a:buClr>
              <a:buFont typeface="Wingdings" panose="05000000000000000000" charset="0"/>
              <a:buChar char="v"/>
            </a:pPr>
            <a:r>
              <a:rPr lang="en-US" sz="2400" dirty="0">
                <a:cs typeface="+mj-lt"/>
              </a:rPr>
              <a:t>The PPP’s journey from rejecting provincial autonomy to championing it through the 18th Amendment is a striking example how history often compels leaders and institutions to revisit and rectify their past decisions, albeit after significant loss and upheaval.</a:t>
            </a:r>
          </a:p>
          <a:p>
            <a:pPr>
              <a:buClr>
                <a:srgbClr val="8AD0D6"/>
              </a:buClr>
            </a:pPr>
            <a:endParaRPr lang="en-US" sz="2400" dirty="0">
              <a:cs typeface="+mj-lt"/>
            </a:endParaRPr>
          </a:p>
          <a:p>
            <a:pPr>
              <a:buClr>
                <a:srgbClr val="8AD0D6"/>
              </a:buClr>
            </a:pPr>
            <a:endParaRPr lang="en-US" sz="2400" dirty="0">
              <a:latin typeface="Century Gothic"/>
            </a:endParaRPr>
          </a:p>
          <a:p>
            <a:pPr>
              <a:buClr>
                <a:srgbClr val="8AD0D6"/>
              </a:buClr>
            </a:pPr>
            <a:endParaRPr lang="en-US" sz="1800" dirty="0">
              <a:latin typeface="Aptos"/>
            </a:endParaRPr>
          </a:p>
          <a:p>
            <a:pPr>
              <a:buClr>
                <a:srgbClr val="8AD0D6"/>
              </a:buClr>
            </a:pP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Difference it made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Impacts of 18th </a:t>
            </a:r>
            <a:r>
              <a:rPr lang="en-US" dirty="0">
                <a:ea typeface="+mj-lt"/>
                <a:cs typeface="+mj-lt"/>
              </a:rPr>
              <a:t>amendment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932" y="1473369"/>
            <a:ext cx="12080399" cy="480943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Clr>
                <a:srgbClr val="8AD0D6"/>
              </a:buClr>
              <a:buFont typeface="Wingdings" panose="05000000000000000000" charset="0"/>
              <a:buChar char="v"/>
            </a:pPr>
            <a:r>
              <a:rPr lang="en-US" sz="2400" b="1" dirty="0">
                <a:cs typeface="+mj-lt"/>
              </a:rPr>
              <a:t>Worker's welfare</a:t>
            </a:r>
            <a:endParaRPr lang="en-US" sz="2400" dirty="0">
              <a:cs typeface="+mj-lt"/>
            </a:endParaRPr>
          </a:p>
          <a:p>
            <a:pPr marL="0" indent="0">
              <a:buNone/>
            </a:pPr>
            <a:r>
              <a:rPr lang="en-US" sz="2400" dirty="0">
                <a:cs typeface="+mj-lt"/>
              </a:rPr>
              <a:t>        Aimed to devolve labor rights and workers welfare from federal to provincial government.</a:t>
            </a:r>
          </a:p>
          <a:p>
            <a:pPr marL="0" indent="0">
              <a:buNone/>
            </a:pPr>
            <a:r>
              <a:rPr lang="en-US" sz="2400" b="1" dirty="0">
                <a:cs typeface="+mj-lt"/>
              </a:rPr>
              <a:t>        Minimum wage limit.</a:t>
            </a:r>
          </a:p>
          <a:p>
            <a:pPr>
              <a:buClr>
                <a:srgbClr val="8AD0D6"/>
              </a:buClr>
              <a:buFont typeface="Wingdings" panose="05000000000000000000" charset="0"/>
              <a:buChar char="v"/>
            </a:pPr>
            <a:r>
              <a:rPr lang="en-US" sz="2400" b="1" dirty="0">
                <a:cs typeface="+mj-lt"/>
              </a:rPr>
              <a:t>Share of wealth and Control over local resources</a:t>
            </a:r>
          </a:p>
          <a:p>
            <a:pPr marL="0" indent="0">
              <a:buClr>
                <a:srgbClr val="8AD0D6"/>
              </a:buClr>
              <a:buNone/>
            </a:pPr>
            <a:r>
              <a:rPr lang="en-US" sz="2400" dirty="0">
                <a:cs typeface="+mj-lt"/>
              </a:rPr>
              <a:t>       Balochistan got enough funds for </a:t>
            </a:r>
            <a:r>
              <a:rPr lang="en-US" sz="2400" b="1" dirty="0">
                <a:cs typeface="+mj-lt"/>
              </a:rPr>
              <a:t>Gwadar safe city project</a:t>
            </a:r>
            <a:r>
              <a:rPr lang="en-US" sz="2400" dirty="0">
                <a:cs typeface="+mj-lt"/>
              </a:rPr>
              <a:t>.</a:t>
            </a:r>
          </a:p>
          <a:p>
            <a:pPr marL="0" indent="0">
              <a:buNone/>
            </a:pPr>
            <a:r>
              <a:rPr lang="en-US" sz="2400" dirty="0">
                <a:cs typeface="+mj-lt"/>
              </a:rPr>
              <a:t>       Gilgit got full control over its </a:t>
            </a:r>
            <a:r>
              <a:rPr lang="en-US" sz="2400" b="1" dirty="0">
                <a:cs typeface="+mj-lt"/>
              </a:rPr>
              <a:t>trades of its extracted gemstones</a:t>
            </a:r>
            <a:r>
              <a:rPr lang="en-US" sz="2400" dirty="0">
                <a:cs typeface="+mj-lt"/>
              </a:rPr>
              <a:t> like Emeralds.</a:t>
            </a:r>
          </a:p>
          <a:p>
            <a:pPr>
              <a:buClr>
                <a:srgbClr val="8AD0D6"/>
              </a:buClr>
              <a:buFont typeface="Wingdings" panose="05000000000000000000" charset="0"/>
              <a:buChar char="v"/>
            </a:pPr>
            <a:r>
              <a:rPr lang="en-US" sz="2400" b="1" dirty="0">
                <a:cs typeface="+mj-lt"/>
              </a:rPr>
              <a:t>Education</a:t>
            </a:r>
            <a:endParaRPr lang="en-US" sz="2400" dirty="0">
              <a:cs typeface="+mj-lt"/>
            </a:endParaRPr>
          </a:p>
          <a:p>
            <a:pPr marL="0" indent="0">
              <a:buNone/>
            </a:pPr>
            <a:r>
              <a:rPr lang="en-US" sz="2400" b="1" dirty="0">
                <a:cs typeface="+mj-lt"/>
              </a:rPr>
              <a:t>        </a:t>
            </a:r>
            <a:r>
              <a:rPr lang="en-US" sz="2400" dirty="0">
                <a:cs typeface="+mj-lt"/>
              </a:rPr>
              <a:t>Provinces were given autonomy to design their </a:t>
            </a:r>
            <a:r>
              <a:rPr lang="en-US" sz="2400" b="1" dirty="0">
                <a:cs typeface="+mj-lt"/>
              </a:rPr>
              <a:t>own </a:t>
            </a:r>
            <a:r>
              <a:rPr lang="en-US" sz="2400" b="1" dirty="0">
                <a:latin typeface="Arial"/>
                <a:cs typeface="Arial"/>
              </a:rPr>
              <a:t>curriculum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lang="en-US" sz="2400" dirty="0">
                <a:latin typeface="Century Gothic"/>
                <a:cs typeface="Arial"/>
              </a:rPr>
              <a:t>based</a:t>
            </a:r>
            <a:r>
              <a:rPr lang="en-US" sz="2400" dirty="0">
                <a:cs typeface="+mj-lt"/>
              </a:rPr>
              <a:t> on their culture and languages.</a:t>
            </a:r>
            <a:endParaRPr lang="en-US" sz="2400" dirty="0"/>
          </a:p>
          <a:p>
            <a:pPr marL="0" indent="0">
              <a:buClr>
                <a:srgbClr val="8AD0D6"/>
              </a:buClr>
              <a:buNone/>
            </a:pPr>
            <a:r>
              <a:rPr lang="en-US" sz="1200" dirty="0">
                <a:latin typeface="Aptos"/>
              </a:rPr>
              <a:t>                  </a:t>
            </a:r>
          </a:p>
          <a:p>
            <a:pPr>
              <a:buClr>
                <a:srgbClr val="8AD0D6"/>
              </a:buClr>
            </a:pP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76684" y="829721"/>
            <a:ext cx="9404723" cy="885060"/>
          </a:xfrm>
        </p:spPr>
        <p:txBody>
          <a:bodyPr/>
          <a:lstStyle/>
          <a:p>
            <a:r>
              <a:rPr lang="en-US" dirty="0"/>
              <a:t>Recent instances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675005" y="2461895"/>
            <a:ext cx="6303010" cy="2852420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>
              <a:lnSpc>
                <a:spcPct val="120000"/>
              </a:lnSpc>
              <a:buClr>
                <a:srgbClr val="1E5155">
                  <a:lumMod val="40000"/>
                  <a:lumOff val="60000"/>
                </a:srgbClr>
              </a:buClr>
              <a:buFont typeface="Wingdings" charset="2"/>
              <a:buChar char="v"/>
            </a:pPr>
            <a:r>
              <a:rPr lang="en-US" altLang="en-US" sz="2400" dirty="0"/>
              <a:t>Pakistan former prime minister Imran Khan tried to dissolve national assembly in 2022, but his move was prevented by article 58(1) which was added in 18th </a:t>
            </a:r>
            <a:r>
              <a:rPr lang="en-US" sz="2400" dirty="0">
                <a:ea typeface="+mj-lt"/>
                <a:cs typeface="+mj-lt"/>
              </a:rPr>
              <a:t>amendment</a:t>
            </a:r>
            <a:r>
              <a:rPr lang="en-US" altLang="en-US" sz="2400" dirty="0"/>
              <a:t>.</a:t>
            </a:r>
            <a:endParaRPr lang="en-US" altLang="en-US" sz="2400" dirty="0">
              <a:cs typeface="+mj-lt"/>
            </a:endParaRPr>
          </a:p>
          <a:p>
            <a:pPr>
              <a:lnSpc>
                <a:spcPct val="120000"/>
              </a:lnSpc>
              <a:buClr>
                <a:srgbClr val="8AD0D6"/>
              </a:buClr>
              <a:buFont typeface="Wingdings" charset="2"/>
              <a:buChar char="v"/>
            </a:pPr>
            <a:r>
              <a:rPr lang="en-US" altLang="en-US" sz="2400" dirty="0">
                <a:cs typeface="+mj-lt"/>
              </a:rPr>
              <a:t>His attempts to impose single national </a:t>
            </a:r>
            <a:r>
              <a:rPr lang="en-US" altLang="en-US" sz="2400" dirty="0">
                <a:solidFill>
                  <a:srgbClr val="FFFFFF"/>
                </a:solidFill>
                <a:ea typeface="+mj-lt"/>
                <a:cs typeface="+mj-lt"/>
              </a:rPr>
              <a:t>curriculum was also stopped by article 140-A which ensured provinces to manage their </a:t>
            </a:r>
            <a:r>
              <a:rPr lang="en-US" sz="2400" dirty="0">
                <a:solidFill>
                  <a:srgbClr val="FFFFFF"/>
                </a:solidFill>
                <a:ea typeface="+mj-lt"/>
                <a:cs typeface="+mj-lt"/>
              </a:rPr>
              <a:t>curriculum on their own.</a:t>
            </a:r>
            <a:endParaRPr lang="en-US" altLang="en-US" sz="2400" dirty="0">
              <a:solidFill>
                <a:srgbClr val="FFFFFF"/>
              </a:solidFill>
              <a:cs typeface="+mj-lt"/>
            </a:endParaRPr>
          </a:p>
          <a:p>
            <a:pPr marL="0" indent="0">
              <a:lnSpc>
                <a:spcPct val="90000"/>
              </a:lnSpc>
              <a:buClr>
                <a:srgbClr val="8AD0D6"/>
              </a:buClr>
              <a:buNone/>
            </a:pPr>
            <a:endParaRPr lang="en-US" altLang="en-US" sz="2400" dirty="0">
              <a:cs typeface="+mj-lt"/>
              <a:sym typeface="+mn-ea"/>
            </a:endParaRPr>
          </a:p>
          <a:p>
            <a:pPr marL="0" indent="0">
              <a:lnSpc>
                <a:spcPct val="90000"/>
              </a:lnSpc>
              <a:buClr>
                <a:srgbClr val="8AD0D6"/>
              </a:buClr>
              <a:buNone/>
            </a:pPr>
            <a:endParaRPr lang="en-US" altLang="en-US">
              <a:cs typeface="+mj-lt"/>
            </a:endParaRPr>
          </a:p>
        </p:txBody>
      </p:sp>
      <p:pic>
        <p:nvPicPr>
          <p:cNvPr id="3" name="Picture 2" descr="A person in a white shirt&#10;&#10;Description automatically generated">
            <a:extLst>
              <a:ext uri="{FF2B5EF4-FFF2-40B4-BE49-F238E27FC236}">
                <a16:creationId xmlns:a16="http://schemas.microsoft.com/office/drawing/2014/main" id="{A7D932AE-EB01-939E-6E10-5B0427412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6871" y="1718982"/>
            <a:ext cx="2866464" cy="414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232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199" y="407894"/>
            <a:ext cx="9404723" cy="1400530"/>
          </a:xfrm>
        </p:spPr>
        <p:txBody>
          <a:bodyPr/>
          <a:lstStyle/>
          <a:p>
            <a:r>
              <a:rPr lang="en-US" dirty="0"/>
              <a:t>C</a:t>
            </a:r>
            <a:r>
              <a:rPr lang="en-US" altLang="en-US" dirty="0"/>
              <a:t>ritique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347" y="1711534"/>
            <a:ext cx="12180305" cy="481243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5000000000000000000" charset="0"/>
              <a:buChar char="v"/>
            </a:pPr>
            <a:r>
              <a:rPr lang="en-US" altLang="en-US" sz="2400" b="1" dirty="0">
                <a:cs typeface="+mj-lt"/>
              </a:rPr>
              <a:t>Weakened Central Government</a:t>
            </a:r>
            <a:endParaRPr lang="en-US" sz="2400" b="1" dirty="0"/>
          </a:p>
          <a:p>
            <a:pPr marL="0" indent="0">
              <a:buClr>
                <a:srgbClr val="8AD0D6"/>
              </a:buClr>
              <a:buNone/>
            </a:pPr>
            <a:r>
              <a:rPr lang="en-US" altLang="en-US" sz="1800" dirty="0">
                <a:cs typeface="+mj-lt"/>
              </a:rPr>
              <a:t>       Critics argued it reduced the central government's ability to manage national issues.</a:t>
            </a:r>
            <a:endParaRPr lang="en-US" dirty="0"/>
          </a:p>
          <a:p>
            <a:pPr>
              <a:buFont typeface="Wingdings" panose="05000000000000000000" charset="0"/>
              <a:buChar char="v"/>
            </a:pPr>
            <a:r>
              <a:rPr lang="en-US" altLang="en-US" sz="2400" b="1" dirty="0">
                <a:cs typeface="+mj-lt"/>
              </a:rPr>
              <a:t>Provincial Fragmentation: </a:t>
            </a:r>
          </a:p>
          <a:p>
            <a:pPr marL="0" indent="0">
              <a:buClr>
                <a:srgbClr val="8AD0D6"/>
              </a:buClr>
              <a:buNone/>
            </a:pPr>
            <a:r>
              <a:rPr lang="en-US" altLang="en-US" sz="1800" dirty="0">
                <a:cs typeface="+mj-lt"/>
              </a:rPr>
              <a:t>       Increased autonomy raised fears of heightened regional tensions and fragmentation  between the provinces.</a:t>
            </a:r>
            <a:endParaRPr lang="en-US" dirty="0"/>
          </a:p>
          <a:p>
            <a:pPr>
              <a:buFont typeface="Wingdings" charset="2"/>
              <a:buChar char="v"/>
            </a:pPr>
            <a:r>
              <a:rPr lang="en-US" altLang="en-US" sz="2400" b="1" dirty="0">
                <a:solidFill>
                  <a:srgbClr val="FFFFFF"/>
                </a:solidFill>
                <a:latin typeface="Century Gothic"/>
                <a:cs typeface="Arial"/>
              </a:rPr>
              <a:t>Ambiguities </a:t>
            </a:r>
            <a:r>
              <a:rPr lang="en-US" altLang="en-US" sz="2400" b="1" dirty="0">
                <a:cs typeface="+mj-lt"/>
              </a:rPr>
              <a:t>in Legal framework</a:t>
            </a:r>
            <a:endParaRPr lang="en-US" altLang="en-US" sz="2400" b="1" dirty="0">
              <a:solidFill>
                <a:srgbClr val="FFFFFF"/>
              </a:solidFill>
              <a:latin typeface="Century Gothic"/>
              <a:cs typeface="Arial"/>
            </a:endParaRPr>
          </a:p>
          <a:p>
            <a:pPr marL="0" indent="0">
              <a:buClr>
                <a:srgbClr val="8AD0D6"/>
              </a:buClr>
              <a:buNone/>
            </a:pPr>
            <a:r>
              <a:rPr lang="en-US" altLang="en-US" sz="2400" b="1" dirty="0">
                <a:cs typeface="+mj-lt"/>
              </a:rPr>
              <a:t>     </a:t>
            </a:r>
            <a:r>
              <a:rPr lang="en-US" altLang="en-US" sz="1800" dirty="0">
                <a:cs typeface="+mj-lt"/>
              </a:rPr>
              <a:t>Lack of clarity over </a:t>
            </a:r>
            <a:r>
              <a:rPr lang="en-US" sz="1800" dirty="0">
                <a:ea typeface="+mj-lt"/>
                <a:cs typeface="+mj-lt"/>
              </a:rPr>
              <a:t>jurisdictional </a:t>
            </a:r>
            <a:r>
              <a:rPr lang="en-US" altLang="en-US" sz="1800" dirty="0">
                <a:cs typeface="+mj-lt"/>
              </a:rPr>
              <a:t>matters between federal and provincial governments.</a:t>
            </a:r>
          </a:p>
          <a:p>
            <a:pPr>
              <a:buFont typeface="Wingdings" panose="05000000000000000000" charset="0"/>
              <a:buChar char="v"/>
            </a:pPr>
            <a:r>
              <a:rPr lang="en-US" altLang="en-US" sz="2400" b="1" dirty="0">
                <a:cs typeface="+mj-lt"/>
              </a:rPr>
              <a:t>Problems in governance</a:t>
            </a:r>
          </a:p>
          <a:p>
            <a:pPr marL="0" indent="0">
              <a:buClr>
                <a:srgbClr val="8AD0D6"/>
              </a:buClr>
              <a:buNone/>
            </a:pPr>
            <a:r>
              <a:rPr lang="en-US" altLang="en-US" sz="1800" dirty="0">
                <a:cs typeface="+mj-lt"/>
                <a:sym typeface="+mn-ea"/>
              </a:rPr>
              <a:t>       Despite the 18th Amendment's mandate in Article 140A for provincial governments to devolve power</a:t>
            </a:r>
          </a:p>
          <a:p>
            <a:pPr marL="0" indent="0">
              <a:buNone/>
            </a:pPr>
            <a:r>
              <a:rPr lang="en-US" altLang="en-US" sz="1800" dirty="0">
                <a:cs typeface="+mj-lt"/>
                <a:sym typeface="+mn-ea"/>
              </a:rPr>
              <a:t> to local governments, many provinces have not fully implemented this, leading to concerns about centralized control. </a:t>
            </a:r>
            <a:endParaRPr lang="en-US" altLang="en-US" sz="1800">
              <a:cs typeface="+mj-lt"/>
            </a:endParaRPr>
          </a:p>
          <a:p>
            <a:pPr>
              <a:buFont typeface="Wingdings" panose="05000000000000000000" charset="0"/>
              <a:buChar char="v"/>
            </a:pPr>
            <a:endParaRPr lang="en-US" altLang="en-US" sz="1800" dirty="0">
              <a:cs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855" y="452755"/>
            <a:ext cx="9432925" cy="889635"/>
          </a:xfrm>
        </p:spPr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235" y="1654175"/>
            <a:ext cx="11688445" cy="354965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n-US" dirty="0">
              <a:solidFill>
                <a:srgbClr val="747474"/>
              </a:solidFill>
              <a:latin typeface="Aptos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sz="2400" b="1" dirty="0">
                <a:solidFill>
                  <a:schemeClr val="tx2"/>
                </a:solidFill>
              </a:rPr>
              <a:t>Restoration of Democracy</a:t>
            </a:r>
          </a:p>
          <a:p>
            <a:pPr>
              <a:buFont typeface="Wingdings" panose="05000000000000000000" charset="0"/>
              <a:buChar char="v"/>
            </a:pPr>
            <a:r>
              <a:rPr lang="en-US" sz="2400" b="1" dirty="0">
                <a:solidFill>
                  <a:schemeClr val="tx2"/>
                </a:solidFill>
              </a:rPr>
              <a:t>Provincial Autonomy</a:t>
            </a:r>
          </a:p>
          <a:p>
            <a:pPr>
              <a:buFont typeface="Wingdings" panose="05000000000000000000" charset="0"/>
              <a:buChar char="v"/>
            </a:pPr>
            <a:r>
              <a:rPr lang="en-US" sz="2400" b="1" dirty="0">
                <a:solidFill>
                  <a:schemeClr val="tx2"/>
                </a:solidFill>
              </a:rPr>
              <a:t>Strengthening Federalism</a:t>
            </a:r>
          </a:p>
          <a:p>
            <a:pPr>
              <a:buFont typeface="Wingdings" panose="05000000000000000000" charset="0"/>
              <a:buChar char="v"/>
            </a:pPr>
            <a:r>
              <a:rPr lang="en-US" sz="2400" b="1" dirty="0">
                <a:solidFill>
                  <a:schemeClr val="tx2"/>
                </a:solidFill>
              </a:rPr>
              <a:t>Challenges in Implementation</a:t>
            </a:r>
          </a:p>
          <a:p>
            <a:pPr>
              <a:buFont typeface="Wingdings" panose="05000000000000000000" charset="0"/>
              <a:buChar char="v"/>
            </a:pPr>
            <a:r>
              <a:rPr lang="en-US" altLang="en-US" sz="2400" b="1" dirty="0"/>
              <a:t>Need for Local Governance</a:t>
            </a:r>
          </a:p>
          <a:p>
            <a:pPr marL="0" indent="0">
              <a:buNone/>
            </a:pPr>
            <a:endParaRPr lang="en-US" sz="1200" dirty="0">
              <a:latin typeface="Aptos"/>
            </a:endParaRPr>
          </a:p>
          <a:p>
            <a:pPr marL="0" indent="0">
              <a:buClr>
                <a:srgbClr val="8AD0D6"/>
              </a:buClr>
              <a:buNone/>
            </a:pP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ny-questions-if-494f9500b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-40005"/>
            <a:ext cx="12192635" cy="68605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170723411948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145" y="635"/>
            <a:ext cx="1238186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8347</Words>
  <Application>Microsoft Office PowerPoint</Application>
  <PresentationFormat>Widescreen</PresentationFormat>
  <Paragraphs>227</Paragraphs>
  <Slides>34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Ion</vt:lpstr>
      <vt:lpstr>18th Amendment  </vt:lpstr>
      <vt:lpstr>Presented by</vt:lpstr>
      <vt:lpstr>Historical Background</vt:lpstr>
      <vt:lpstr>Lahore resolution </vt:lpstr>
      <vt:lpstr>Issues in East Pakistan</vt:lpstr>
      <vt:lpstr>Separation  </vt:lpstr>
      <vt:lpstr>Balochistan</vt:lpstr>
      <vt:lpstr>KPK</vt:lpstr>
      <vt:lpstr>Political challenges</vt:lpstr>
      <vt:lpstr>Political instability from Quaid’s death onwards</vt:lpstr>
      <vt:lpstr>Constitutional problems and Martial laws</vt:lpstr>
      <vt:lpstr>Bhutto &amp; Zia  </vt:lpstr>
      <vt:lpstr>Democratic  instability </vt:lpstr>
      <vt:lpstr>Sardar Bacha Khan </vt:lpstr>
      <vt:lpstr>Abdul Wali khan</vt:lpstr>
      <vt:lpstr>Constitutional History</vt:lpstr>
      <vt:lpstr>Colonial Era</vt:lpstr>
      <vt:lpstr>Misuse of power </vt:lpstr>
      <vt:lpstr>8th Amendment</vt:lpstr>
      <vt:lpstr>13th Amendment</vt:lpstr>
      <vt:lpstr>17th Amendment</vt:lpstr>
      <vt:lpstr>The Revival</vt:lpstr>
      <vt:lpstr>18th Amendment (2010)</vt:lpstr>
      <vt:lpstr>Important articles</vt:lpstr>
      <vt:lpstr>More of them</vt:lpstr>
      <vt:lpstr>A little bit more</vt:lpstr>
      <vt:lpstr>Irony of Time</vt:lpstr>
      <vt:lpstr>Difference it made</vt:lpstr>
      <vt:lpstr>Impacts of 18th amendment</vt:lpstr>
      <vt:lpstr>Recent instances</vt:lpstr>
      <vt:lpstr>Critique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Sharjeel</cp:lastModifiedBy>
  <cp:revision>1687</cp:revision>
  <dcterms:created xsi:type="dcterms:W3CDTF">2025-01-14T13:24:00Z</dcterms:created>
  <dcterms:modified xsi:type="dcterms:W3CDTF">2025-01-15T23:18:19Z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1B9C1464BF0B43719FED6B48A3E02FFD_12</vt:lpwstr>
  </property>
  <property fmtid="{D5CDD505-2E9C-101B-9397-08002B2CF9AE}" pid="3" name="KSOProductBuildVer">
    <vt:lpwstr>1033-12.2.0.19805</vt:lpwstr>
  </property>
</Properties>
</file>